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fcc57a51fc47d5" /><Relationship Type="http://schemas.openxmlformats.org/officeDocument/2006/relationships/extended-properties" Target="/docProps/app.xml" Id="Rcf31b77c0c354fd2" /><Relationship Type="http://schemas.openxmlformats.org/officeDocument/2006/relationships/officeDocument" Target="/ppt/presentation.xml" Id="R853d48b514d040e7" /></Relationships>
</file>

<file path=ppt/presentation.xml><?xml version="1.0" encoding="utf-8"?>
<p:presentation xmlns:p="http://schemas.openxmlformats.org/presentationml/2006/main">
  <p:sldMasterIdLst>
    <p:sldMasterId xmlns:r="http://schemas.openxmlformats.org/officeDocument/2006/relationships" id="2147483648" r:id="Rbbf89c4938894bc1"/>
  </p:sldMasterIdLst>
  <p:notesMasterIdLst>
    <p:notesMasterId xmlns:r="http://schemas.openxmlformats.org/officeDocument/2006/relationships" r:id="Rbbadb617dffa4763"/>
  </p:notesMasterIdLst>
  <p:sldIdLst>
    <p:sldId xmlns:r="http://schemas.openxmlformats.org/officeDocument/2006/relationships" id="256" r:id="R5763cc839397464a"/>
    <p:sldId xmlns:r="http://schemas.openxmlformats.org/officeDocument/2006/relationships" id="257" r:id="Refba5e417705476d"/>
    <p:sldId xmlns:r="http://schemas.openxmlformats.org/officeDocument/2006/relationships" id="258" r:id="Rc0fff6302cac4625"/>
    <p:sldId xmlns:r="http://schemas.openxmlformats.org/officeDocument/2006/relationships" id="259" r:id="R1580b4c97b1a499b"/>
    <p:sldId xmlns:r="http://schemas.openxmlformats.org/officeDocument/2006/relationships" id="260" r:id="R2d810790f1ec40a9"/>
    <p:sldId xmlns:r="http://schemas.openxmlformats.org/officeDocument/2006/relationships" id="261" r:id="R0031c750fead4da0"/>
    <p:sldId xmlns:r="http://schemas.openxmlformats.org/officeDocument/2006/relationships" id="262" r:id="R0ffee182f69243b9"/>
    <p:sldId xmlns:r="http://schemas.openxmlformats.org/officeDocument/2006/relationships" id="263" r:id="R57c641171eaa4253"/>
    <p:sldId xmlns:r="http://schemas.openxmlformats.org/officeDocument/2006/relationships" id="264" r:id="Rd8b62eeb203049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89c76c0b7e4caf" /><Relationship Type="http://schemas.openxmlformats.org/officeDocument/2006/relationships/slideMaster" Target="/ppt/slideMasters/slideMaster1.xml" Id="Rbbf89c4938894bc1" /><Relationship Type="http://schemas.openxmlformats.org/officeDocument/2006/relationships/notesMaster" Target="/ppt/notesMasters/notesMaster1.xml" Id="Rbbadb617dffa4763" /><Relationship Type="http://schemas.openxmlformats.org/officeDocument/2006/relationships/presProps" Target="/ppt/presProps.xml" Id="R36572fe60d144501" /><Relationship Type="http://schemas.openxmlformats.org/officeDocument/2006/relationships/tableStyles" Target="/ppt/tableStyles.xml" Id="R4af5fc376ef040b9" /><Relationship Type="http://schemas.openxmlformats.org/officeDocument/2006/relationships/slide" Target="/ppt/slides/slide1.xml" Id="R5763cc839397464a" /><Relationship Type="http://schemas.openxmlformats.org/officeDocument/2006/relationships/slide" Target="/ppt/slides/slide2.xml" Id="Refba5e417705476d" /><Relationship Type="http://schemas.openxmlformats.org/officeDocument/2006/relationships/slide" Target="/ppt/slides/slide3.xml" Id="Rc0fff6302cac4625" /><Relationship Type="http://schemas.openxmlformats.org/officeDocument/2006/relationships/slide" Target="/ppt/slides/slide4.xml" Id="R1580b4c97b1a499b" /><Relationship Type="http://schemas.openxmlformats.org/officeDocument/2006/relationships/slide" Target="/ppt/slides/slide5.xml" Id="R2d810790f1ec40a9" /><Relationship Type="http://schemas.openxmlformats.org/officeDocument/2006/relationships/slide" Target="/ppt/slides/slide6.xml" Id="R0031c750fead4da0" /><Relationship Type="http://schemas.openxmlformats.org/officeDocument/2006/relationships/slide" Target="/ppt/slides/slide7.xml" Id="R0ffee182f69243b9" /><Relationship Type="http://schemas.openxmlformats.org/officeDocument/2006/relationships/slide" Target="/ppt/slides/slide8.xml" Id="R57c641171eaa4253" /><Relationship Type="http://schemas.openxmlformats.org/officeDocument/2006/relationships/slide" Target="/ppt/slides/slide9.xml" Id="Rd8b62eeb203049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7bf85367f8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a6472c9c4b405a" /><Relationship Type="http://schemas.openxmlformats.org/officeDocument/2006/relationships/notesMaster" Target="/ppt/notesMasters/notesMaster1.xml" Id="R6f573591bbcd47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45b52c6e804ced" /><Relationship Type="http://schemas.openxmlformats.org/officeDocument/2006/relationships/notesMaster" Target="/ppt/notesMasters/notesMaster1.xml" Id="R7a4dda658ad54a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c83314ffdb433f" /><Relationship Type="http://schemas.openxmlformats.org/officeDocument/2006/relationships/notesMaster" Target="/ppt/notesMasters/notesMaster1.xml" Id="R3d88429219cb4b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7aba1d841c45d9" /><Relationship Type="http://schemas.openxmlformats.org/officeDocument/2006/relationships/notesMaster" Target="/ppt/notesMasters/notesMaster1.xml" Id="R41af351b5bbf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079dfe26c54ae8" /><Relationship Type="http://schemas.openxmlformats.org/officeDocument/2006/relationships/notesMaster" Target="/ppt/notesMasters/notesMaster1.xml" Id="Rc837b6cabc0c4a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fd3e74442c4579" /><Relationship Type="http://schemas.openxmlformats.org/officeDocument/2006/relationships/notesMaster" Target="/ppt/notesMasters/notesMaster1.xml" Id="R2f6c57e6ea5f4f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831f6dad244979" /><Relationship Type="http://schemas.openxmlformats.org/officeDocument/2006/relationships/notesMaster" Target="/ppt/notesMasters/notesMaster1.xml" Id="Rcb680de6832044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733dabb8fd48a3" /><Relationship Type="http://schemas.openxmlformats.org/officeDocument/2006/relationships/notesMaster" Target="/ppt/notesMasters/notesMaster1.xml" Id="R9f41c14ce5a04e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34f8180c7a4b39" /><Relationship Type="http://schemas.openxmlformats.org/officeDocument/2006/relationships/notesMaster" Target="/ppt/notesMasters/notesMaster1.xml" Id="Racc9c75809fd4b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Quyết định đề xuất: chưa mở triển khai hôm nay. Cho phép nhóm hợp tác chuẩn bị hồ sơ khả thi ở tối đa ba địa bàn. Nếu đủ điều kiện, mở một nhóm tại một địa bàn với trần 70.000 GBP. Đây là đề xuất chưa được duyệt hoặc thực hiện.</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Tỷ lệ PA dùng enrolments, không dùng possible sessions. Primary: 14,29% và 14,39%. Secondary: 21,09% và 21,53%. 100/152 địa bàn secondary có tỷ lệ tăng. Toàn bộ 304 cặp địa bàn-nhóm trường khớp qua hai kỳ.</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Severe absence ≥50% possible sessions theo enrolment, là tập con của PA. Primary 0,89% sang 1,02%. Secondary 3,19% sang 3,16%. Số địa bàn có tỷ lệ severe tăng: primary 131/152, secondary 71/152. Không dùng hai số PA và severe cộng làm caseload.</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Knowsley: PA 29,75% sang 32,67%, thay đổi +2,91 điểm phần trăm. Rank PA hiện tại 1/152, rank tăng 4/152. Severe hiện tại 4,97%. PA 10 đến dưới50% 1.665 lượt ghi danh.</a:t>
            </a:r>
          </a:p>
          <a:p xmlns:a="http://schemas.openxmlformats.org/drawingml/2006/main">
            <a:r>
              <a:t>North East Lincolnshire: PA 26,03% sang 30,23%, thay đổi +4,20 điểm phần trăm. Rank PA hiện tại 2/152, rank tăng 2/152. Severe hiện tại 4,76%. PA 10 đến dưới50% 2.292 lượt ghi danh.</a:t>
            </a:r>
          </a:p>
          <a:p xmlns:a="http://schemas.openxmlformats.org/drawingml/2006/main">
            <a:r>
              <a:t>Blackburn with Darwen: PA 19,47% sang 24,42%, thay đổi +4,95 điểm phần trăm. Rank PA hiện tại 25/152, rank tăng 1/152. Severe hiện tại 3,28%. PA 10 đến dưới50% 2.332 lượt ghi danh.</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Knowsley: illness 2,39% possible sessions, other unauthorised 5,95% possible sessions, severe 4,97%, 10 đến dưới50% 1.665 enrolments, 6 source schools.</a:t>
            </a:r>
          </a:p>
          <a:p xmlns:a="http://schemas.openxmlformats.org/drawingml/2006/main">
            <a:r>
              <a:t>North East Lincolnshire: illness 4,18% possible sessions, other unauthorised 3,33% possible sessions, severe 4,76%, 10 đến dưới50% 2.292 enrolments, 10 source schools.</a:t>
            </a:r>
          </a:p>
          <a:p xmlns:a="http://schemas.openxmlformats.org/drawingml/2006/main">
            <a:r>
              <a:t>Blackburn with Darwen: illness 3,98% possible sessions, other unauthorised 2,19% possible sessions, severe 3,28%, 10 đến dưới50% 2.332 enrolments, 12 source schools.</a:t>
            </a:r>
          </a:p>
          <a:p xmlns:a="http://schemas.openxmlformats.org/drawingml/2006/main">
            <a:r>
              <a:t>Ký hiệu do trường ghi không chứng minh nguyên nhân của một gia đình hoặc hiệu quả dịch vụ.</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giả lập từ brief: 12 nhân sự, mỗi nhóm4, 15 gia đình đồng thời/nhân sự,4 trường tối đa/địa bàn,70.000GBP tối đa/địa bàn,210.000GBP toàn bộ. Trần1nhóm=4*15=60 gia đình đang hỗ trợ đồng thời. Ba nhóm=180. Không suy ra số gia đình cả học kỳ hoặc hiệu quả. Các enrolments10-&lt;50% hiện tại ở3địa bàn được chọn là1665,2292,2332 nhưng không phải danh sáchgia đình.</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Tất cả các điều kiện là chưa xác minh theo brief. Vai trò kiểm tra đề xuất. Giám đốc dịch vụ duyệt launch khi hồ sơ hoàn tất. Thiếu bất kỳ điều kiện nào thì hoãn hoặc sửa phạm vi. Nhân sự4, điều kiện đi lại/làmviệc, quyền truy cập dữ liệu và thời gian đối tác phải xác nhận cho học kỳ. Không thể coi trần tài nguyên là xác nhận đã phân công.</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Thiết kế đo đề xuất, chưa phê duyệt: đóng intake cuối tuần2 sau khởi động. Baseline4tuần học trước nhận hỗ trợ và6tuần theo dõi mỗi trẻ. Cần trường xác nhận dữ liệu đủ và khả năng theo dõi nằm trong học kỳ, nếu không giảm intake hoặc hoãn. Outcome overall absence sessions/possible sessions của cohort toàn bộtrẻ đã nhận, so sánh cùng6tuần của nhómtrẻ tương tự ở trường phù hợp nếu có. Theo dõi mất dữ liệu, thời gian nhân sự, harm, referrals và ngân sách. Không dùng before/after tuyên bố nhânquả. Giám đốc với phụtrách đo chốt mức giảm tối thiểu có ý nghĩa trước launch. Không mở thêm nếu thiếu evidence mature, vượtbudget/capacity hoặc safety unresolved.</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cố định được bàn giao trong source/raw. 153LA,304phasepairs,608rowstwo autumns. Mỗi phase152records kỳ. Isles of Scilly absentprimary, City ofLondon absentsecondary không thêm0. NationalTotal chứaspecial không dùng. Tất cảheadline/tablescalculated từ counts và matching denominator. NativeWorkbookphasescope nguyên bản. Cần review DfErevision,status,mãLA,phase,definitions trước đổiperiod. Phương pháptermly indicative length variation. Contains public sector information licensed under OGLv3.0.</a:t>
            </a:r>
          </a:p>
          <a:p xmlns:a="http://schemas.openxmlformats.org/drawingml/2006/main">
            <a:r>
              <a:t>Nguồn: DfE, Autumn term 2025/26. Công bố 6/8/2026, bản tải 13/10/2026. Phép tính từ toàn bộ phạm vi hai nhóm trường.</a:t>
            </a:r>
          </a:p>
          <a:p xmlns:a="http://schemas.openxmlformats.org/drawingml/2006/main">
            <a:r>
              <a:t>https://explore-education-statistics.service.gov.uk/data-catalogue/data-set/407a4c0a-260f-4bd0-8b6d-0f49febb207c</a:t>
            </a:r>
          </a:p>
          <a:p xmlns:a="http://schemas.openxmlformats.org/drawingml/2006/main">
            <a:r>
              <a:t>https://explore-education-statistics.service.gov.uk/methodology/pupil-absence-statistics-methodology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012fc356b64b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2b55c9984a4b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cb7181abbf41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951206bd9c47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8eb3f16dc647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925a707b1a46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C3C646-C625-4E5F-AE68-1753FE1D8B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436CC5-9E5C-44CF-8BF4-787D185E4D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9D6112-14AF-4E14-A274-4A24940090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2CE54A-161F-4D2C-9673-1AA4FDBB3C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C8DEA8-8F8E-4E2A-B178-C7B6897769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BAC23E-2DEF-4D75-959A-0A0267367C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8806DC-A27C-4A32-AA68-C9C6FCE57F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2F1283-F29B-4B3F-B277-F0E7EE2C70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3A6C47-830D-4D84-9ABF-07DBC28A32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45C4F7-0DBA-44B2-BFAF-FCE9C2F69F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591094e471464e" /><Relationship Type="http://schemas.openxmlformats.org/officeDocument/2006/relationships/slideLayout" Target="/ppt/slideLayouts/slideLayout1.xml" Id="R71bb119569e94820" /><Relationship Type="http://schemas.openxmlformats.org/officeDocument/2006/relationships/slideLayout" Target="/ppt/slideLayouts/slideLayout2.xml" Id="R3e2106cb9277464b" /><Relationship Type="http://schemas.openxmlformats.org/officeDocument/2006/relationships/slideLayout" Target="/ppt/slideLayouts/slideLayout3.xml" Id="Rcd42cf9f95a448c1" /><Relationship Type="http://schemas.openxmlformats.org/officeDocument/2006/relationships/slideLayout" Target="/ppt/slideLayouts/slideLayout4.xml" Id="R45b028434ef44a30" /><Relationship Type="http://schemas.openxmlformats.org/officeDocument/2006/relationships/slideLayout" Target="/ppt/slideLayouts/slideLayout5.xml" Id="R4f7a97f959134486" /><Relationship Type="http://schemas.openxmlformats.org/officeDocument/2006/relationships/slideLayout" Target="/ppt/slideLayouts/slideLayout6.xml" Id="R06e6a237267d4f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bb119569e94820"/>
    <p:sldLayoutId xmlns:r="http://schemas.openxmlformats.org/officeDocument/2006/relationships" id="2147483650" r:id="R3e2106cb9277464b"/>
    <p:sldLayoutId xmlns:r="http://schemas.openxmlformats.org/officeDocument/2006/relationships" id="2147483651" r:id="Rcd42cf9f95a448c1"/>
    <p:sldLayoutId xmlns:r="http://schemas.openxmlformats.org/officeDocument/2006/relationships" id="2147483652" r:id="R45b028434ef44a30"/>
    <p:sldLayoutId xmlns:r="http://schemas.openxmlformats.org/officeDocument/2006/relationships" id="2147483653" r:id="R4f7a97f959134486"/>
    <p:sldLayoutId xmlns:r="http://schemas.openxmlformats.org/officeDocument/2006/relationships" id="2147483654" r:id="R06e6a237267d4f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a9d559c9f94563" /><Relationship Type="http://schemas.openxmlformats.org/officeDocument/2006/relationships/notesSlide" Target="/ppt/notesSlides/notesSlide1.xml" Id="R6fd013bcff7d4a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fbadc1be014ea2" /><Relationship Type="http://schemas.openxmlformats.org/officeDocument/2006/relationships/chart" Target="/ppt/slides/charts/chart1.xml" Id="R68c0eb2438e64b10" /><Relationship Type="http://schemas.openxmlformats.org/officeDocument/2006/relationships/notesSlide" Target="/ppt/notesSlides/notesSlide2.xml" Id="R41ec2254078f46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a1fe685ce54f9e" /><Relationship Type="http://schemas.openxmlformats.org/officeDocument/2006/relationships/chart" Target="/ppt/slides/charts/chart2.xml" Id="R64bc442e1c66425e" /><Relationship Type="http://schemas.openxmlformats.org/officeDocument/2006/relationships/notesSlide" Target="/ppt/notesSlides/notesSlide3.xml" Id="R1a6a22e3f34d4d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428ffbb9744eb1" /><Relationship Type="http://schemas.openxmlformats.org/officeDocument/2006/relationships/chart" Target="/ppt/slides/charts/chart3.xml" Id="Rae8fcf012bac45f0" /><Relationship Type="http://schemas.openxmlformats.org/officeDocument/2006/relationships/notesSlide" Target="/ppt/notesSlides/notesSlide4.xml" Id="Rb961d74ee4c248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4e113e7d864f01" /><Relationship Type="http://schemas.openxmlformats.org/officeDocument/2006/relationships/notesSlide" Target="/ppt/notesSlides/notesSlide5.xml" Id="Rae1ec5cf33d84e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19bfbfdbef4589" /><Relationship Type="http://schemas.openxmlformats.org/officeDocument/2006/relationships/notesSlide" Target="/ppt/notesSlides/notesSlide6.xml" Id="R9d6a3885622042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a8965105304863" /><Relationship Type="http://schemas.openxmlformats.org/officeDocument/2006/relationships/notesSlide" Target="/ppt/notesSlides/notesSlide7.xml" Id="R4907b5da482b41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1c88a1e48a4fc9" /><Relationship Type="http://schemas.openxmlformats.org/officeDocument/2006/relationships/notesSlide" Target="/ppt/notesSlides/notesSlide8.xml" Id="R35b0e9022f254a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5761f51201419c" /><Relationship Type="http://schemas.openxmlformats.org/officeDocument/2006/relationships/notesSlide" Target="/ppt/notesSlides/notesSlide9.xml" Id="Rd818dbf3c3e74a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Thu 2024/25</c:v>
          </c:tx>
          <c:spPr>
            <a:solidFill xmlns:a="http://schemas.openxmlformats.org/drawingml/2006/main">
              <a:srgbClr val="788991"/>
            </a:solidFill>
          </c:spPr>
          <c:invertIfNegative val="0"/>
          <c:cat>
            <c:strRef>
              <c:f>'Chart Data'!$A$2:$A$3</c:f>
              <c:strCache>
                <c:ptCount val="2"/>
                <c:pt idx="0">
                  <c:v>Tiểu học</c:v>
                </c:pt>
                <c:pt idx="1">
                  <c:v>Trung học</c:v>
                </c:pt>
              </c:strCache>
            </c:strRef>
          </c:cat>
          <c:val>
            <c:numRef>
              <c:f>'Chart Data'!$B$2:$B$3</c:f>
              <c:numCache>
                <c:formatCode>0.00%</c:formatCode>
                <c:ptCount val="2"/>
                <c:pt idx="0">
                  <c:v>0.142895</c:v>
                </c:pt>
                <c:pt idx="1">
                  <c:v>0.210859</c:v>
                </c:pt>
              </c:numCache>
            </c:numRef>
          </c:val>
        </c:ser>
        <c:ser>
          <c:idx val="1"/>
          <c:order val="1"/>
          <c:tx>
            <c:v>Thu 2025/26</c:v>
          </c:tx>
          <c:spPr>
            <a:solidFill xmlns:a="http://schemas.openxmlformats.org/drawingml/2006/main">
              <a:srgbClr val="1B6273"/>
            </a:solidFill>
          </c:spPr>
          <c:invertIfNegative val="0"/>
          <c:cat>
            <c:strRef>
              <c:f>'Chart Data'!$C$2:$C$3</c:f>
              <c:strCache>
                <c:ptCount val="2"/>
                <c:pt idx="0">
                  <c:v>Tiểu học</c:v>
                </c:pt>
                <c:pt idx="1">
                  <c:v>Trung học</c:v>
                </c:pt>
              </c:strCache>
            </c:strRef>
          </c:cat>
          <c:val>
            <c:numRef>
              <c:f>'Chart Data'!$D$2:$D$3</c:f>
              <c:numCache>
                <c:formatCode>0.00%</c:formatCode>
                <c:ptCount val="2"/>
                <c:pt idx="0">
                  <c:v>0.143879</c:v>
                </c:pt>
                <c:pt idx="1">
                  <c:v>0.215312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62B35"/>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3D6"/>
            </a:solidFill>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72768"/>
      </c:catAx>
      <c:valAx>
        <c:axId val="48672768"/>
        <c:scaling>
          <c:orientation val="minMax"/>
          <c:max val="0.26"/>
          <c:min val="0"/>
        </c:scaling>
        <c:delete val="0"/>
        <c:axPos val="l"/>
        <c:majorGridlines>
          <c:spPr>
            <a:ln xmlns:a="http://schemas.openxmlformats.org/drawingml/2006/main" w="9525">
              <a:solidFill>
                <a:srgbClr val="DFE6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Thu 2024/25</c:v>
          </c:tx>
          <c:spPr>
            <a:solidFill xmlns:a="http://schemas.openxmlformats.org/drawingml/2006/main">
              <a:srgbClr val="788991"/>
            </a:solidFill>
          </c:spPr>
          <c:invertIfNegative val="0"/>
          <c:cat>
            <c:strRef>
              <c:f>'Chart Data'!$A$2:$A$3</c:f>
              <c:strCache>
                <c:ptCount val="2"/>
                <c:pt idx="0">
                  <c:v>Tiểu học</c:v>
                </c:pt>
                <c:pt idx="1">
                  <c:v>Trung học</c:v>
                </c:pt>
              </c:strCache>
            </c:strRef>
          </c:cat>
          <c:val>
            <c:numRef>
              <c:f>'Chart Data'!$B$2:$B$3</c:f>
              <c:numCache>
                <c:formatCode>0.00%</c:formatCode>
                <c:ptCount val="2"/>
                <c:pt idx="0">
                  <c:v>0.008935</c:v>
                </c:pt>
                <c:pt idx="1">
                  <c:v>0.03189</c:v>
                </c:pt>
              </c:numCache>
            </c:numRef>
          </c:val>
        </c:ser>
        <c:ser>
          <c:idx val="1"/>
          <c:order val="1"/>
          <c:tx>
            <c:v>Thu 2025/26</c:v>
          </c:tx>
          <c:spPr>
            <a:solidFill xmlns:a="http://schemas.openxmlformats.org/drawingml/2006/main">
              <a:srgbClr val="1B6273"/>
            </a:solidFill>
          </c:spPr>
          <c:invertIfNegative val="0"/>
          <c:cat>
            <c:strRef>
              <c:f>'Chart Data'!$C$2:$C$3</c:f>
              <c:strCache>
                <c:ptCount val="2"/>
                <c:pt idx="0">
                  <c:v>Tiểu học</c:v>
                </c:pt>
                <c:pt idx="1">
                  <c:v>Trung học</c:v>
                </c:pt>
              </c:strCache>
            </c:strRef>
          </c:cat>
          <c:val>
            <c:numRef>
              <c:f>'Chart Data'!$D$2:$D$3</c:f>
              <c:numCache>
                <c:formatCode>0.00%</c:formatCode>
                <c:ptCount val="2"/>
                <c:pt idx="0">
                  <c:v>0.010231</c:v>
                </c:pt>
                <c:pt idx="1">
                  <c:v>0.031573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62B35"/>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3D6"/>
            </a:solidFill>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72768"/>
      </c:catAx>
      <c:valAx>
        <c:axId val="48672768"/>
        <c:scaling>
          <c:orientation val="minMax"/>
          <c:max val="0.04"/>
          <c:min val="0"/>
        </c:scaling>
        <c:delete val="0"/>
        <c:axPos val="l"/>
        <c:majorGridlines>
          <c:spPr>
            <a:ln xmlns:a="http://schemas.openxmlformats.org/drawingml/2006/main" w="9525">
              <a:solidFill>
                <a:srgbClr val="DFE6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Thu 2024/25</c:v>
          </c:tx>
          <c:spPr>
            <a:solidFill xmlns:a="http://schemas.openxmlformats.org/drawingml/2006/main">
              <a:srgbClr val="788991"/>
            </a:solidFill>
          </c:spPr>
          <c:invertIfNegative val="0"/>
          <c:cat>
            <c:strRef>
              <c:f>'Chart Data'!$A$2:$A$4</c:f>
              <c:strCache>
                <c:ptCount val="3"/>
                <c:pt idx="0">
                  <c:v>Knowsley</c:v>
                </c:pt>
                <c:pt idx="1">
                  <c:v>North East Lincolnshire</c:v>
                </c:pt>
                <c:pt idx="2">
                  <c:v>Blackburn with Darwen</c:v>
                </c:pt>
              </c:strCache>
            </c:strRef>
          </c:cat>
          <c:val>
            <c:numRef>
              <c:f>'Chart Data'!$B$2:$B$4</c:f>
              <c:numCache>
                <c:formatCode>0.00%</c:formatCode>
                <c:ptCount val="3"/>
                <c:pt idx="0">
                  <c:v>0.297532</c:v>
                </c:pt>
                <c:pt idx="1">
                  <c:v>0.260317</c:v>
                </c:pt>
                <c:pt idx="2">
                  <c:v>0.194699</c:v>
                </c:pt>
              </c:numCache>
            </c:numRef>
          </c:val>
        </c:ser>
        <c:ser>
          <c:idx val="1"/>
          <c:order val="1"/>
          <c:tx>
            <c:v>Thu 2025/26</c:v>
          </c:tx>
          <c:spPr>
            <a:solidFill xmlns:a="http://schemas.openxmlformats.org/drawingml/2006/main">
              <a:srgbClr val="1B6273"/>
            </a:solidFill>
          </c:spPr>
          <c:invertIfNegative val="0"/>
          <c:cat>
            <c:strRef>
              <c:f>'Chart Data'!$C$2:$C$4</c:f>
              <c:strCache>
                <c:ptCount val="3"/>
                <c:pt idx="0">
                  <c:v>Knowsley</c:v>
                </c:pt>
                <c:pt idx="1">
                  <c:v>North East Lincolnshire</c:v>
                </c:pt>
                <c:pt idx="2">
                  <c:v>Blackburn with Darwen</c:v>
                </c:pt>
              </c:strCache>
            </c:strRef>
          </c:cat>
          <c:val>
            <c:numRef>
              <c:f>'Chart Data'!$D$2:$D$4</c:f>
              <c:numCache>
                <c:formatCode>0.00%</c:formatCode>
                <c:ptCount val="3"/>
                <c:pt idx="0">
                  <c:v>0.32668</c:v>
                </c:pt>
                <c:pt idx="1">
                  <c:v>0.302289</c:v>
                </c:pt>
                <c:pt idx="2">
                  <c:v>0.244177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62B35"/>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3D6"/>
            </a:solidFill>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72768"/>
      </c:catAx>
      <c:valAx>
        <c:axId val="48672768"/>
        <c:scaling>
          <c:orientation val="minMax"/>
          <c:max val="0.38"/>
          <c:min val="0"/>
        </c:scaling>
        <c:delete val="0"/>
        <c:axPos val="l"/>
        <c:majorGridlines>
          <c:spPr>
            <a:ln xmlns:a="http://schemas.openxmlformats.org/drawingml/2006/main" w="9525">
              <a:solidFill>
                <a:srgbClr val="DFE6E8"/>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62B35"/>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B35"/>
        </a:solidFill>
      </p:bgPr>
    </p:bg>
    <p:spTree>
      <p:nvGrpSpPr>
        <p:cNvPr id="1" name=""/>
        <p:cNvGrpSpPr/>
        <p:nvPr/>
      </p:nvGrpSpPr>
      <p:grpSpPr>
        <a:xfrm xmlns:a="http://schemas.openxmlformats.org/drawingml/2006/main"/>
      </p:grpSpPr>
      <p:sp>
        <p:nvSpPr>
          <p:cNvPr id="4" name="Thử nghiệm chuyên cần&#10;có điều kiện">
            <a:extLst xmlns:a="http://schemas.openxmlformats.org/drawingml/2006/main">
              <a:ext uri="{FF2B5EF4-FFF2-40B4-BE49-F238E27FC236}">
                <a16:creationId xmlns:a16="http://schemas.microsoft.com/office/drawing/2014/main" id="{A0FA6462-47DB-4C8D-8677-2AA6A46B4EDC}"/>
              </a:ext>
            </a:extLst>
          </p:cNvPr>
          <p:cNvSpPr>
            <a:spLocks xmlns:a="http://schemas.openxmlformats.org/drawingml/2006/main" noGrp="1"/>
          </p:cNvSpPr>
          <p:nvPr/>
        </p:nvSpPr>
        <p:spPr>
          <a:xfrm xmlns:a="http://schemas.openxmlformats.org/drawingml/2006/main">
            <a:off x="609600" y="8953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Thử nghiệm chuyên cần</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có điều kiện</a:t>
            </a:r>
          </a:p>
        </p:txBody>
      </p:sp>
      <p:sp>
        <p:nvSpPr>
          <p:cNvPr id="2" name="Ưu tiên tìm đối tác ở ba địa bàn.&#10;Chỉ mở một nhóm khi đ">
            <a:extLst xmlns:a="http://schemas.openxmlformats.org/drawingml/2006/main">
              <a:ext uri="{FF2B5EF4-FFF2-40B4-BE49-F238E27FC236}">
                <a16:creationId xmlns:a16="http://schemas.microsoft.com/office/drawing/2014/main" id="{C02E1F26-E3B3-4925-852C-435ECC3F284F}"/>
              </a:ext>
            </a:extLst>
          </p:cNvPr>
          <p:cNvSpPr>
            <a:spLocks xmlns:a="http://schemas.openxmlformats.org/drawingml/2006/main" noGrp="1"/>
          </p:cNvSpPr>
          <p:nvPr/>
        </p:nvSpPr>
        <p:spPr>
          <a:xfrm xmlns:a="http://schemas.openxmlformats.org/drawingml/2006/main">
            <a:off x="609600" y="3190875"/>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Ưu tiên tìm đối tác ở ba địa bàn.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Chỉ mở một nhóm khi đủ điều kiện tại địa phương.</a:t>
            </a:r>
          </a:p>
        </p:txBody>
      </p:sp>
      <p:sp>
        <p:nvSpPr>
          <p:cNvPr id="3" name="Đề xuất cho một học kỳ tại England&#10;Dữ liệu DfE thật. Bố">
            <a:extLst xmlns:a="http://schemas.openxmlformats.org/drawingml/2006/main">
              <a:ext uri="{FF2B5EF4-FFF2-40B4-BE49-F238E27FC236}">
                <a16:creationId xmlns:a16="http://schemas.microsoft.com/office/drawing/2014/main" id="{ECF330F9-B3AE-4C98-80F9-DC24BE6EDDDF}"/>
              </a:ext>
            </a:extLst>
          </p:cNvPr>
          <p:cNvSpPr>
            <a:spLocks xmlns:a="http://schemas.openxmlformats.org/drawingml/2006/main" noGrp="1"/>
          </p:cNvSpPr>
          <p:nvPr/>
        </p:nvSpPr>
        <p:spPr>
          <a:xfrm xmlns:a="http://schemas.openxmlformats.org/drawingml/2006/main">
            <a:off x="609600" y="530542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D2E0E5"/>
                </a:solidFill>
                <a:latin typeface="Arial"/>
                <a:ea typeface="Arial"/>
                <a:cs typeface="Arial"/>
              </a:defRPr>
            </a:defPPr>
          </a:lstStyle>
          <a:p xmlns:a="http://schemas.openxmlformats.org/drawingml/2006/main">
            <a:pPr>
              <a:defRPr sz="1800" b="0">
                <a:solidFill>
                  <a:srgbClr val="D2E0E5"/>
                </a:solidFill>
                <a:latin typeface="Arial"/>
                <a:ea typeface="Arial"/>
                <a:cs typeface="Arial"/>
              </a:defRPr>
            </a:pPr>
            <a:r>
              <a:rPr sz="1800" b="0">
                <a:solidFill>
                  <a:srgbClr val="D2E0E5"/>
                </a:solidFill>
                <a:latin typeface="Arial"/>
                <a:ea typeface="Arial"/>
                <a:cs typeface="Arial"/>
              </a:rPr>
              <a:t>Đề xuất cho một học kỳ tại England</a:t>
            </a:r>
          </a:p>
          <a:p xmlns:a="http://schemas.openxmlformats.org/drawingml/2006/main">
            <a:pPr>
              <a:defRPr sz="1800" b="0">
                <a:solidFill>
                  <a:srgbClr val="D2E0E5"/>
                </a:solidFill>
                <a:latin typeface="Arial"/>
                <a:ea typeface="Arial"/>
                <a:cs typeface="Arial"/>
              </a:defRPr>
            </a:pPr>
            <a:r>
              <a:rPr sz="1800" b="0">
                <a:solidFill>
                  <a:srgbClr val="D2E0E5"/>
                </a:solidFill>
                <a:latin typeface="Arial"/>
                <a:ea typeface="Arial"/>
                <a:cs typeface="Arial"/>
              </a:rPr>
              <a:t>Dữ liệu DfE thật. Bối cảnh và giới hạn dịch vụ là giả lập.</a:t>
            </a:r>
          </a:p>
        </p:txBody>
      </p:sp>
    </p:spTree>
    <p:extLst>
      <p:ext uri="{BB962C8B-B14F-4D97-AF65-F5344CB8AC3E}">
        <p14:creationId xmlns:p14="http://schemas.microsoft.com/office/powerpoint/2010/main" val="2552502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ắng thường xuyên cao hơn ở trung học">
            <a:extLst xmlns:a="http://schemas.openxmlformats.org/drawingml/2006/main">
              <a:ext uri="{FF2B5EF4-FFF2-40B4-BE49-F238E27FC236}">
                <a16:creationId xmlns:a16="http://schemas.microsoft.com/office/drawing/2014/main" id="{D42840DC-8D3E-41AC-B409-7D686FE9BA71}"/>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Vắng thường xuyên cao hơn ở trung học</a:t>
            </a:r>
          </a:p>
        </p:txBody>
      </p:sp>
      <p:sp>
        <p:nvSpPr>
          <p:cNvPr id="2" name="02">
            <a:extLst xmlns:a="http://schemas.openxmlformats.org/drawingml/2006/main">
              <a:ext uri="{FF2B5EF4-FFF2-40B4-BE49-F238E27FC236}">
                <a16:creationId xmlns:a16="http://schemas.microsoft.com/office/drawing/2014/main" id="{C0982E79-4436-4093-82DB-F6AFF2FA470E}"/>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02</a:t>
            </a:r>
          </a:p>
        </p:txBody>
      </p:sp>
      <p:sp>
        <p:nvSpPr>
          <p:cNvPr id="3" name="Lượt ghi danh vắng ≥10% số buổi của lượt đó / tổng lượt">
            <a:extLst xmlns:a="http://schemas.openxmlformats.org/drawingml/2006/main">
              <a:ext uri="{FF2B5EF4-FFF2-40B4-BE49-F238E27FC236}">
                <a16:creationId xmlns:a16="http://schemas.microsoft.com/office/drawing/2014/main" id="{DF8D1510-14D4-4F71-93A7-F8214F782321}"/>
              </a:ext>
            </a:extLst>
          </p:cNvPr>
          <p:cNvSpPr>
            <a:spLocks xmlns:a="http://schemas.openxmlformats.org/drawingml/2006/main" noGrp="1"/>
          </p:cNvSpPr>
          <p:nvPr/>
        </p:nvSpPr>
        <p:spPr>
          <a:xfrm xmlns:a="http://schemas.openxmlformats.org/drawingml/2006/main">
            <a:off x="609600" y="14478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485F68"/>
                </a:solidFill>
                <a:latin typeface="Arial"/>
                <a:ea typeface="Arial"/>
                <a:cs typeface="Arial"/>
              </a:defRPr>
            </a:defPPr>
          </a:lstStyle>
          <a:p xmlns:a="http://schemas.openxmlformats.org/drawingml/2006/main">
            <a:pPr>
              <a:defRPr sz="1950" b="0">
                <a:solidFill>
                  <a:srgbClr val="485F68"/>
                </a:solidFill>
                <a:latin typeface="Arial"/>
                <a:ea typeface="Arial"/>
                <a:cs typeface="Arial"/>
              </a:defRPr>
            </a:pPr>
            <a:r>
              <a:rPr sz="1950" b="0">
                <a:solidFill>
                  <a:srgbClr val="485F68"/>
                </a:solidFill>
                <a:latin typeface="Arial"/>
                <a:ea typeface="Arial"/>
                <a:cs typeface="Arial"/>
              </a:rPr>
              <a:t>Lượt ghi danh vắng ≥10% số buổi của lượt đó / tổng lượt ghi danh</a:t>
            </a:r>
          </a:p>
        </p:txBody>
      </p:sp>
      <p:graphicFrame>
        <p:nvGraphicFramePr>
          <p:cNvPr id="4" name="Chart">
            <a:extLst xmlns:a="http://schemas.openxmlformats.org/drawingml/2006/main">
              <a:ext uri="{FF2B5EF4-FFF2-40B4-BE49-F238E27FC236}">
                <a16:creationId xmlns:a16="http://schemas.microsoft.com/office/drawing/2014/main" id="{70BEFD7B-4E5F-429C-B2C9-2A329A970274}"/>
              </a:ext>
            </a:extLst>
          </p:cNvPr>
          <p:cNvGraphicFramePr/>
          <p:nvPr/>
        </p:nvGraphicFramePr>
        <p:xfrm>
          <a:off xmlns:a="http://schemas.openxmlformats.org/drawingml/2006/main" x="609600" y="2095500"/>
          <a:ext xmlns:a="http://schemas.openxmlformats.org/drawingml/2006/main" cx="7334250" cy="3581400"/>
        </p:xfrm>
        <a:graphic xmlns:a="http://schemas.openxmlformats.org/drawingml/2006/main">
          <a:graphicData uri="http://schemas.openxmlformats.org/drawingml/2006/chart">
            <c:chart xmlns:r="http://schemas.openxmlformats.org/officeDocument/2006/relationships" xmlns:c="http://schemas.openxmlformats.org/drawingml/2006/chart" r:id="R68c0eb2438e64b10"/>
          </a:graphicData>
        </a:graphic>
      </p:graphicFrame>
      <p:sp>
        <p:nvSpPr>
          <p:cNvPr id="5" name="100/152">
            <a:extLst xmlns:a="http://schemas.openxmlformats.org/drawingml/2006/main">
              <a:ext uri="{FF2B5EF4-FFF2-40B4-BE49-F238E27FC236}">
                <a16:creationId xmlns:a16="http://schemas.microsoft.com/office/drawing/2014/main" id="{3725959D-E590-46AD-9993-F1CE4463D5C1}"/>
              </a:ext>
            </a:extLst>
          </p:cNvPr>
          <p:cNvSpPr>
            <a:spLocks xmlns:a="http://schemas.openxmlformats.org/drawingml/2006/main" noGrp="1"/>
          </p:cNvSpPr>
          <p:nvPr/>
        </p:nvSpPr>
        <p:spPr>
          <a:xfrm xmlns:a="http://schemas.openxmlformats.org/drawingml/2006/main">
            <a:off x="8705850" y="2181225"/>
            <a:ext cx="2743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350" b="1">
                <a:solidFill>
                  <a:srgbClr val="1B6273"/>
                </a:solidFill>
                <a:latin typeface="Arial"/>
                <a:ea typeface="Arial"/>
                <a:cs typeface="Arial"/>
              </a:defRPr>
            </a:defPPr>
          </a:lstStyle>
          <a:p xmlns:a="http://schemas.openxmlformats.org/drawingml/2006/main">
            <a:pPr>
              <a:defRPr sz="4350" b="1">
                <a:solidFill>
                  <a:srgbClr val="1B6273"/>
                </a:solidFill>
                <a:latin typeface="Arial"/>
                <a:ea typeface="Arial"/>
                <a:cs typeface="Arial"/>
              </a:defRPr>
            </a:pPr>
            <a:r>
              <a:rPr sz="4350" b="1">
                <a:solidFill>
                  <a:srgbClr val="1B6273"/>
                </a:solidFill>
                <a:latin typeface="Arial"/>
                <a:ea typeface="Arial"/>
                <a:cs typeface="Arial"/>
              </a:rPr>
              <a:t>100/152</a:t>
            </a:r>
          </a:p>
        </p:txBody>
      </p:sp>
      <p:sp>
        <p:nvSpPr>
          <p:cNvPr id="6" name="địa bàn trung học&#10;có tỷ lệ tăng">
            <a:extLst xmlns:a="http://schemas.openxmlformats.org/drawingml/2006/main">
              <a:ext uri="{FF2B5EF4-FFF2-40B4-BE49-F238E27FC236}">
                <a16:creationId xmlns:a16="http://schemas.microsoft.com/office/drawing/2014/main" id="{CCBF4BFE-207B-419B-BFA2-2C5ABB3B7B65}"/>
              </a:ext>
            </a:extLst>
          </p:cNvPr>
          <p:cNvSpPr>
            <a:spLocks xmlns:a="http://schemas.openxmlformats.org/drawingml/2006/main" noGrp="1"/>
          </p:cNvSpPr>
          <p:nvPr/>
        </p:nvSpPr>
        <p:spPr>
          <a:xfrm xmlns:a="http://schemas.openxmlformats.org/drawingml/2006/main">
            <a:off x="8705850" y="3038475"/>
            <a:ext cx="27241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62B35"/>
                </a:solidFill>
                <a:latin typeface="Arial"/>
                <a:ea typeface="Arial"/>
                <a:cs typeface="Arial"/>
              </a:defRPr>
            </a:defPPr>
          </a:lstStyle>
          <a:p xmlns:a="http://schemas.openxmlformats.org/drawingml/2006/main">
            <a:pPr>
              <a:defRPr sz="2175" b="0">
                <a:solidFill>
                  <a:srgbClr val="162B35"/>
                </a:solidFill>
                <a:latin typeface="Arial"/>
                <a:ea typeface="Arial"/>
                <a:cs typeface="Arial"/>
              </a:defRPr>
            </a:pPr>
            <a:r>
              <a:rPr sz="2175" b="0">
                <a:solidFill>
                  <a:srgbClr val="162B35"/>
                </a:solidFill>
                <a:latin typeface="Arial"/>
                <a:ea typeface="Arial"/>
                <a:cs typeface="Arial"/>
              </a:rPr>
              <a:t>địa bàn trung học</a:t>
            </a:r>
          </a:p>
          <a:p xmlns:a="http://schemas.openxmlformats.org/drawingml/2006/main">
            <a:pPr>
              <a:defRPr sz="2175" b="0">
                <a:solidFill>
                  <a:srgbClr val="162B35"/>
                </a:solidFill>
                <a:latin typeface="Arial"/>
                <a:ea typeface="Arial"/>
                <a:cs typeface="Arial"/>
              </a:defRPr>
            </a:pPr>
            <a:r>
              <a:rPr sz="2175" b="0">
                <a:solidFill>
                  <a:srgbClr val="162B35"/>
                </a:solidFill>
                <a:latin typeface="Arial"/>
                <a:ea typeface="Arial"/>
                <a:cs typeface="Arial"/>
              </a:rPr>
              <a:t>có tỷ lệ tăng</a:t>
            </a:r>
          </a:p>
        </p:txBody>
      </p:sp>
      <p:sp>
        <p:nvSpPr>
          <p:cNvPr id="7" name="Ưu tiên kiểm tra nhu cầu&#10;hỗ trợ tại trung học.">
            <a:extLst xmlns:a="http://schemas.openxmlformats.org/drawingml/2006/main">
              <a:ext uri="{FF2B5EF4-FFF2-40B4-BE49-F238E27FC236}">
                <a16:creationId xmlns:a16="http://schemas.microsoft.com/office/drawing/2014/main" id="{DBD753CB-9D7F-4760-8B6C-F87E4BB1C12B}"/>
              </a:ext>
            </a:extLst>
          </p:cNvPr>
          <p:cNvSpPr>
            <a:spLocks xmlns:a="http://schemas.openxmlformats.org/drawingml/2006/main" noGrp="1"/>
          </p:cNvSpPr>
          <p:nvPr/>
        </p:nvSpPr>
        <p:spPr>
          <a:xfrm xmlns:a="http://schemas.openxmlformats.org/drawingml/2006/main">
            <a:off x="8705850" y="4371975"/>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62B35"/>
                </a:solidFill>
                <a:latin typeface="Arial"/>
                <a:ea typeface="Arial"/>
                <a:cs typeface="Arial"/>
              </a:defRPr>
            </a:defPPr>
          </a:lstStyle>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Ưu tiên kiểm tra nhu cầu</a:t>
            </a:r>
          </a:p>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hỗ trợ tại trung học.</a:t>
            </a:r>
          </a:p>
        </p:txBody>
      </p:sp>
      <p:sp>
        <p:nvSpPr>
          <p:cNvPr id="8" name="England, trường nhà nước tài trợ. Lượt ghi danh có thể ">
            <a:extLst xmlns:a="http://schemas.openxmlformats.org/drawingml/2006/main">
              <a:ext uri="{FF2B5EF4-FFF2-40B4-BE49-F238E27FC236}">
                <a16:creationId xmlns:a16="http://schemas.microsoft.com/office/drawing/2014/main" id="{8E15D99B-A320-4CE4-A100-AE92566E22CC}"/>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England, trường nhà nước tài trợ. Lượt ghi danh có thể lặp khi trẻ chuyển trường. Nguồn: DfE, bản tải 13/10/2026.</a:t>
            </a:r>
          </a:p>
        </p:txBody>
      </p:sp>
    </p:spTree>
    <p:extLst>
      <p:ext uri="{BB962C8B-B14F-4D97-AF65-F5344CB8AC3E}">
        <p14:creationId xmlns:p14="http://schemas.microsoft.com/office/powerpoint/2010/main" val="2063184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ức vắng nặng cho tín hiệu khác">
            <a:extLst xmlns:a="http://schemas.openxmlformats.org/drawingml/2006/main">
              <a:ext uri="{FF2B5EF4-FFF2-40B4-BE49-F238E27FC236}">
                <a16:creationId xmlns:a16="http://schemas.microsoft.com/office/drawing/2014/main" id="{DA1A76A5-145A-4C83-A589-854B4775BFD0}"/>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Mức vắng nặng cho tín hiệu khác</a:t>
            </a:r>
          </a:p>
        </p:txBody>
      </p:sp>
      <p:sp>
        <p:nvSpPr>
          <p:cNvPr id="2" name="03">
            <a:extLst xmlns:a="http://schemas.openxmlformats.org/drawingml/2006/main">
              <a:ext uri="{FF2B5EF4-FFF2-40B4-BE49-F238E27FC236}">
                <a16:creationId xmlns:a16="http://schemas.microsoft.com/office/drawing/2014/main" id="{B9EC5EBA-C968-41C1-BCCF-787F6E260051}"/>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03</a:t>
            </a:r>
          </a:p>
        </p:txBody>
      </p:sp>
      <p:graphicFrame>
        <p:nvGraphicFramePr>
          <p:cNvPr id="3" name="Chart">
            <a:extLst xmlns:a="http://schemas.openxmlformats.org/drawingml/2006/main">
              <a:ext uri="{FF2B5EF4-FFF2-40B4-BE49-F238E27FC236}">
                <a16:creationId xmlns:a16="http://schemas.microsoft.com/office/drawing/2014/main" id="{EE837F92-CC37-41F6-BEC0-06C59B35FA40}"/>
              </a:ext>
            </a:extLst>
          </p:cNvPr>
          <p:cNvGraphicFramePr/>
          <p:nvPr/>
        </p:nvGraphicFramePr>
        <p:xfrm>
          <a:off xmlns:a="http://schemas.openxmlformats.org/drawingml/2006/main" x="609600" y="2047875"/>
          <a:ext xmlns:a="http://schemas.openxmlformats.org/drawingml/2006/main" cx="7334250" cy="3552825"/>
        </p:xfrm>
        <a:graphic xmlns:a="http://schemas.openxmlformats.org/drawingml/2006/main">
          <a:graphicData uri="http://schemas.openxmlformats.org/drawingml/2006/chart">
            <c:chart xmlns:r="http://schemas.openxmlformats.org/officeDocument/2006/relationships" xmlns:c="http://schemas.openxmlformats.org/drawingml/2006/chart" r:id="R64bc442e1c66425e"/>
          </a:graphicData>
        </a:graphic>
      </p:graphicFrame>
      <p:sp>
        <p:nvSpPr>
          <p:cNvPr id="4" name="Lượt ghi danh vắng ≥50% số buổi / tổng lượt ghi danh">
            <a:extLst xmlns:a="http://schemas.openxmlformats.org/drawingml/2006/main">
              <a:ext uri="{FF2B5EF4-FFF2-40B4-BE49-F238E27FC236}">
                <a16:creationId xmlns:a16="http://schemas.microsoft.com/office/drawing/2014/main" id="{38D9646A-E97C-480A-A1C5-35F9DCE39C66}"/>
              </a:ext>
            </a:extLst>
          </p:cNvPr>
          <p:cNvSpPr>
            <a:spLocks xmlns:a="http://schemas.openxmlformats.org/drawingml/2006/main" noGrp="1"/>
          </p:cNvSpPr>
          <p:nvPr/>
        </p:nvSpPr>
        <p:spPr>
          <a:xfrm xmlns:a="http://schemas.openxmlformats.org/drawingml/2006/main">
            <a:off x="609600" y="14478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485F68"/>
                </a:solidFill>
                <a:latin typeface="Arial"/>
                <a:ea typeface="Arial"/>
                <a:cs typeface="Arial"/>
              </a:defRPr>
            </a:defPPr>
          </a:lstStyle>
          <a:p xmlns:a="http://schemas.openxmlformats.org/drawingml/2006/main">
            <a:pPr>
              <a:defRPr sz="1950" b="0">
                <a:solidFill>
                  <a:srgbClr val="485F68"/>
                </a:solidFill>
                <a:latin typeface="Arial"/>
                <a:ea typeface="Arial"/>
                <a:cs typeface="Arial"/>
              </a:defRPr>
            </a:pPr>
            <a:r>
              <a:rPr sz="1950" b="0">
                <a:solidFill>
                  <a:srgbClr val="485F68"/>
                </a:solidFill>
                <a:latin typeface="Arial"/>
                <a:ea typeface="Arial"/>
                <a:cs typeface="Arial"/>
              </a:rPr>
              <a:t>Lượt ghi danh vắng ≥50% số buổi / tổng lượt ghi danh</a:t>
            </a:r>
          </a:p>
        </p:txBody>
      </p:sp>
      <p:sp>
        <p:nvSpPr>
          <p:cNvPr id="5" name="131/152 địa bàn&#10;tiểu học tăng mức vắng nặng">
            <a:extLst xmlns:a="http://schemas.openxmlformats.org/drawingml/2006/main">
              <a:ext uri="{FF2B5EF4-FFF2-40B4-BE49-F238E27FC236}">
                <a16:creationId xmlns:a16="http://schemas.microsoft.com/office/drawing/2014/main" id="{46AB24EE-901C-49A1-927F-387E7C659A38}"/>
              </a:ext>
            </a:extLst>
          </p:cNvPr>
          <p:cNvSpPr>
            <a:spLocks xmlns:a="http://schemas.openxmlformats.org/drawingml/2006/main" noGrp="1"/>
          </p:cNvSpPr>
          <p:nvPr/>
        </p:nvSpPr>
        <p:spPr>
          <a:xfrm xmlns:a="http://schemas.openxmlformats.org/drawingml/2006/main">
            <a:off x="8648700" y="2181225"/>
            <a:ext cx="2867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B6273"/>
                </a:solidFill>
                <a:latin typeface="Arial"/>
                <a:ea typeface="Arial"/>
                <a:cs typeface="Arial"/>
              </a:defRPr>
            </a:defPPr>
          </a:lstStyle>
          <a:p xmlns:a="http://schemas.openxmlformats.org/drawingml/2006/main">
            <a:pPr>
              <a:defRPr sz="2250" b="1">
                <a:solidFill>
                  <a:srgbClr val="1B6273"/>
                </a:solidFill>
                <a:latin typeface="Arial"/>
                <a:ea typeface="Arial"/>
                <a:cs typeface="Arial"/>
              </a:defRPr>
            </a:pPr>
            <a:r>
              <a:rPr sz="2250" b="1">
                <a:solidFill>
                  <a:srgbClr val="1B6273"/>
                </a:solidFill>
                <a:latin typeface="Arial"/>
                <a:ea typeface="Arial"/>
                <a:cs typeface="Arial"/>
              </a:rPr>
              <a:t>131/152 địa bàn</a:t>
            </a:r>
          </a:p>
          <a:p xmlns:a="http://schemas.openxmlformats.org/drawingml/2006/main">
            <a:pPr>
              <a:defRPr sz="2250" b="1">
                <a:solidFill>
                  <a:srgbClr val="1B6273"/>
                </a:solidFill>
                <a:latin typeface="Arial"/>
                <a:ea typeface="Arial"/>
                <a:cs typeface="Arial"/>
              </a:defRPr>
            </a:pPr>
            <a:r>
              <a:rPr sz="2250" b="1">
                <a:solidFill>
                  <a:srgbClr val="1B6273"/>
                </a:solidFill>
                <a:latin typeface="Arial"/>
                <a:ea typeface="Arial"/>
                <a:cs typeface="Arial"/>
              </a:rPr>
              <a:t>tiểu học tăng mức vắng nặng</a:t>
            </a:r>
          </a:p>
        </p:txBody>
      </p:sp>
      <p:sp>
        <p:nvSpPr>
          <p:cNvPr id="6" name="Tiểu học vẫn đáng theo dõi.&#10;Gói đầu tiên cần giới hạn n">
            <a:extLst xmlns:a="http://schemas.openxmlformats.org/drawingml/2006/main">
              <a:ext uri="{FF2B5EF4-FFF2-40B4-BE49-F238E27FC236}">
                <a16:creationId xmlns:a16="http://schemas.microsoft.com/office/drawing/2014/main" id="{4028B8DF-A880-45E3-B235-F8107841F4F8}"/>
              </a:ext>
            </a:extLst>
          </p:cNvPr>
          <p:cNvSpPr>
            <a:spLocks xmlns:a="http://schemas.openxmlformats.org/drawingml/2006/main" noGrp="1"/>
          </p:cNvSpPr>
          <p:nvPr/>
        </p:nvSpPr>
        <p:spPr>
          <a:xfrm xmlns:a="http://schemas.openxmlformats.org/drawingml/2006/main">
            <a:off x="8648700" y="3533775"/>
            <a:ext cx="28670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62B35"/>
                </a:solidFill>
                <a:latin typeface="Arial"/>
                <a:ea typeface="Arial"/>
                <a:cs typeface="Arial"/>
              </a:defRPr>
            </a:defPPr>
          </a:lstStyle>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Tiểu học vẫn đáng theo dõi.</a:t>
            </a:r>
          </a:p>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Gói đầu tiên cần giới hạn nhu cầu mà đội có khả năng xử lý và có tuyến chuyển tiếp.</a:t>
            </a:r>
          </a:p>
        </p:txBody>
      </p:sp>
      <p:sp>
        <p:nvSpPr>
          <p:cNvPr id="7" name="Hai học kỳ là tín hiệu chỉ báo. Độ dài kỳ, lượt ghi dan">
            <a:extLst xmlns:a="http://schemas.openxmlformats.org/drawingml/2006/main">
              <a:ext uri="{FF2B5EF4-FFF2-40B4-BE49-F238E27FC236}">
                <a16:creationId xmlns:a16="http://schemas.microsoft.com/office/drawing/2014/main" id="{D55E608E-4CC1-4641-B95F-1DC00E84B2AF}"/>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Hai học kỳ là tín hiệu chỉ báo. Độ dài kỳ, lượt ghi danh và số buổi có thể khác nhau. Nguồn: DfE, phương pháp mục 1.8.</a:t>
            </a:r>
          </a:p>
        </p:txBody>
      </p:sp>
    </p:spTree>
    <p:extLst>
      <p:ext uri="{BB962C8B-B14F-4D97-AF65-F5344CB8AC3E}">
        <p14:creationId xmlns:p14="http://schemas.microsoft.com/office/powerpoint/2010/main" val="7086152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a địa bàn ưu tiên tìm đối tác">
            <a:extLst xmlns:a="http://schemas.openxmlformats.org/drawingml/2006/main">
              <a:ext uri="{FF2B5EF4-FFF2-40B4-BE49-F238E27FC236}">
                <a16:creationId xmlns:a16="http://schemas.microsoft.com/office/drawing/2014/main" id="{1FE4FEF3-2157-4042-BFA3-2549C74C07FD}"/>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Ba địa bàn ưu tiên tìm đối tác</a:t>
            </a:r>
          </a:p>
        </p:txBody>
      </p:sp>
      <p:sp>
        <p:nvSpPr>
          <p:cNvPr id="2" name="04">
            <a:extLst xmlns:a="http://schemas.openxmlformats.org/drawingml/2006/main">
              <a:ext uri="{FF2B5EF4-FFF2-40B4-BE49-F238E27FC236}">
                <a16:creationId xmlns:a16="http://schemas.microsoft.com/office/drawing/2014/main" id="{522D68D2-C45C-48E8-9D0F-D7C49E19CFBF}"/>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04</a:t>
            </a:r>
          </a:p>
        </p:txBody>
      </p:sp>
      <p:sp>
        <p:nvSpPr>
          <p:cNvPr id="3" name="Trung học, tỷ lệ lượt ghi danh vắng ≥10%. Lựa chọn theo">
            <a:extLst xmlns:a="http://schemas.openxmlformats.org/drawingml/2006/main">
              <a:ext uri="{FF2B5EF4-FFF2-40B4-BE49-F238E27FC236}">
                <a16:creationId xmlns:a16="http://schemas.microsoft.com/office/drawing/2014/main" id="{6DBB85AF-ED4A-4C24-BD28-A18361A324FE}"/>
              </a:ext>
            </a:extLst>
          </p:cNvPr>
          <p:cNvSpPr>
            <a:spLocks xmlns:a="http://schemas.openxmlformats.org/drawingml/2006/main" noGrp="1"/>
          </p:cNvSpPr>
          <p:nvPr/>
        </p:nvSpPr>
        <p:spPr>
          <a:xfrm xmlns:a="http://schemas.openxmlformats.org/drawingml/2006/main">
            <a:off x="609600" y="14668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85F68"/>
                </a:solidFill>
                <a:latin typeface="Arial"/>
                <a:ea typeface="Arial"/>
                <a:cs typeface="Arial"/>
              </a:defRPr>
            </a:defPPr>
          </a:lstStyle>
          <a:p xmlns:a="http://schemas.openxmlformats.org/drawingml/2006/main">
            <a:pPr>
              <a:defRPr sz="1875" b="0">
                <a:solidFill>
                  <a:srgbClr val="485F68"/>
                </a:solidFill>
                <a:latin typeface="Arial"/>
                <a:ea typeface="Arial"/>
                <a:cs typeface="Arial"/>
              </a:defRPr>
            </a:pPr>
            <a:r>
              <a:rPr sz="1875" b="0">
                <a:solidFill>
                  <a:srgbClr val="485F68"/>
                </a:solidFill>
                <a:latin typeface="Arial"/>
                <a:ea typeface="Arial"/>
                <a:cs typeface="Arial"/>
              </a:rPr>
              <a:t>Trung học, tỷ lệ lượt ghi danh vắng ≥10%. Lựa chọn theo mức cao và mức tăng trên toàn bộ 152 địa bàn.</a:t>
            </a:r>
          </a:p>
        </p:txBody>
      </p:sp>
      <p:graphicFrame>
        <p:nvGraphicFramePr>
          <p:cNvPr id="4" name="Chart">
            <a:extLst xmlns:a="http://schemas.openxmlformats.org/drawingml/2006/main">
              <a:ext uri="{FF2B5EF4-FFF2-40B4-BE49-F238E27FC236}">
                <a16:creationId xmlns:a16="http://schemas.microsoft.com/office/drawing/2014/main" id="{57582144-5CCD-4479-BC63-417DBB810DBD}"/>
              </a:ext>
            </a:extLst>
          </p:cNvPr>
          <p:cNvGraphicFramePr/>
          <p:nvPr/>
        </p:nvGraphicFramePr>
        <p:xfrm>
          <a:off xmlns:a="http://schemas.openxmlformats.org/drawingml/2006/main" x="609600" y="2257425"/>
          <a:ext xmlns:a="http://schemas.openxmlformats.org/drawingml/2006/main" cx="10915650" cy="2647950"/>
        </p:xfrm>
        <a:graphic xmlns:a="http://schemas.openxmlformats.org/drawingml/2006/main">
          <a:graphicData uri="http://schemas.openxmlformats.org/drawingml/2006/chart">
            <c:chart xmlns:r="http://schemas.openxmlformats.org/officeDocument/2006/relationships" xmlns:c="http://schemas.openxmlformats.org/drawingml/2006/chart" r:id="Rae8fcf012bac45f0"/>
          </a:graphicData>
        </a:graphic>
      </p:graphicFrame>
      <p:sp>
        <p:nvSpPr>
          <p:cNvPr id="5" name="PA cao nhất&#10;+2,91 điểm phần trăm">
            <a:extLst xmlns:a="http://schemas.openxmlformats.org/drawingml/2006/main">
              <a:ext uri="{FF2B5EF4-FFF2-40B4-BE49-F238E27FC236}">
                <a16:creationId xmlns:a16="http://schemas.microsoft.com/office/drawing/2014/main" id="{0FFE92BF-2CE1-4D8C-81AE-A17E8CB2A6B2}"/>
              </a:ext>
            </a:extLst>
          </p:cNvPr>
          <p:cNvSpPr>
            <a:spLocks xmlns:a="http://schemas.openxmlformats.org/drawingml/2006/main" noGrp="1"/>
          </p:cNvSpPr>
          <p:nvPr/>
        </p:nvSpPr>
        <p:spPr>
          <a:xfrm xmlns:a="http://schemas.openxmlformats.org/drawingml/2006/main">
            <a:off x="866775" y="5038725"/>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B6273"/>
                </a:solidFill>
                <a:latin typeface="Arial"/>
                <a:ea typeface="Arial"/>
                <a:cs typeface="Arial"/>
              </a:defRPr>
            </a:defPPr>
          </a:lstStyle>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PA cao nhất</a:t>
            </a:r>
          </a:p>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+2,91 điểm phần trăm</a:t>
            </a:r>
          </a:p>
        </p:txBody>
      </p:sp>
      <p:sp>
        <p:nvSpPr>
          <p:cNvPr id="6" name="PA cao thứ hai&#10;+4,20 điểm phần trăm">
            <a:extLst xmlns:a="http://schemas.openxmlformats.org/drawingml/2006/main">
              <a:ext uri="{FF2B5EF4-FFF2-40B4-BE49-F238E27FC236}">
                <a16:creationId xmlns:a16="http://schemas.microsoft.com/office/drawing/2014/main" id="{2F823AA3-E23B-4CFA-8C7C-D442E871B06B}"/>
              </a:ext>
            </a:extLst>
          </p:cNvPr>
          <p:cNvSpPr>
            <a:spLocks xmlns:a="http://schemas.openxmlformats.org/drawingml/2006/main" noGrp="1"/>
          </p:cNvSpPr>
          <p:nvPr/>
        </p:nvSpPr>
        <p:spPr>
          <a:xfrm xmlns:a="http://schemas.openxmlformats.org/drawingml/2006/main">
            <a:off x="4638675" y="5038725"/>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B6273"/>
                </a:solidFill>
                <a:latin typeface="Arial"/>
                <a:ea typeface="Arial"/>
                <a:cs typeface="Arial"/>
              </a:defRPr>
            </a:defPPr>
          </a:lstStyle>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PA cao thứ hai</a:t>
            </a:r>
          </a:p>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+4,20 điểm phần trăm</a:t>
            </a:r>
          </a:p>
        </p:txBody>
      </p:sp>
      <p:sp>
        <p:nvSpPr>
          <p:cNvPr id="7" name="PA tăng nhanh nhất&#10;+4,95 điểm phần trăm">
            <a:extLst xmlns:a="http://schemas.openxmlformats.org/drawingml/2006/main">
              <a:ext uri="{FF2B5EF4-FFF2-40B4-BE49-F238E27FC236}">
                <a16:creationId xmlns:a16="http://schemas.microsoft.com/office/drawing/2014/main" id="{01B02C47-648B-404C-8CD0-8A5A2AFC3664}"/>
              </a:ext>
            </a:extLst>
          </p:cNvPr>
          <p:cNvSpPr>
            <a:spLocks xmlns:a="http://schemas.openxmlformats.org/drawingml/2006/main" noGrp="1"/>
          </p:cNvSpPr>
          <p:nvPr/>
        </p:nvSpPr>
        <p:spPr>
          <a:xfrm xmlns:a="http://schemas.openxmlformats.org/drawingml/2006/main">
            <a:off x="8410575" y="5038725"/>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B6273"/>
                </a:solidFill>
                <a:latin typeface="Arial"/>
                <a:ea typeface="Arial"/>
                <a:cs typeface="Arial"/>
              </a:defRPr>
            </a:defPPr>
          </a:lstStyle>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PA tăng nhanh nhất</a:t>
            </a:r>
          </a:p>
          <a:p xmlns:a="http://schemas.openxmlformats.org/drawingml/2006/main">
            <a:pPr>
              <a:defRPr sz="1875" b="1">
                <a:solidFill>
                  <a:srgbClr val="1B6273"/>
                </a:solidFill>
                <a:latin typeface="Arial"/>
                <a:ea typeface="Arial"/>
                <a:cs typeface="Arial"/>
              </a:defRPr>
            </a:pPr>
            <a:r>
              <a:rPr sz="1875" b="1">
                <a:solidFill>
                  <a:srgbClr val="1B6273"/>
                </a:solidFill>
                <a:latin typeface="Arial"/>
                <a:ea typeface="Arial"/>
                <a:cs typeface="Arial"/>
              </a:rPr>
              <a:t>+4,95 điểm phần trăm</a:t>
            </a:r>
          </a:p>
        </p:txBody>
      </p:sp>
      <p:sp>
        <p:nvSpPr>
          <p:cNvPr id="8" name="Tìm đối tác theo danh sách này, sau đó chọn địa bàn đạt">
            <a:extLst xmlns:a="http://schemas.openxmlformats.org/drawingml/2006/main">
              <a:ext uri="{FF2B5EF4-FFF2-40B4-BE49-F238E27FC236}">
                <a16:creationId xmlns:a16="http://schemas.microsoft.com/office/drawing/2014/main" id="{44D7843A-2740-472C-AEFA-F628B3887B96}"/>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Tìm đối tác theo danh sách này, sau đó chọn địa bàn đạt điều kiện trước. Tỷ lệ cao chưa xác nhận gia đình sẵn sàng tham gia.</a:t>
            </a:r>
          </a:p>
        </p:txBody>
      </p:sp>
    </p:spTree>
    <p:extLst>
      <p:ext uri="{BB962C8B-B14F-4D97-AF65-F5344CB8AC3E}">
        <p14:creationId xmlns:p14="http://schemas.microsoft.com/office/powerpoint/2010/main" val="13606471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ý do vắng gợi ý câu hỏi cần kiểm chứng">
            <a:extLst xmlns:a="http://schemas.openxmlformats.org/drawingml/2006/main">
              <a:ext uri="{FF2B5EF4-FFF2-40B4-BE49-F238E27FC236}">
                <a16:creationId xmlns:a16="http://schemas.microsoft.com/office/drawing/2014/main" id="{713B1DC0-6021-4F3A-9B9A-52B0ADDF35D6}"/>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Lý do vắng gợi ý câu hỏi cần kiểm chứng</a:t>
            </a:r>
          </a:p>
        </p:txBody>
      </p:sp>
      <p:sp>
        <p:nvSpPr>
          <p:cNvPr id="2" name="05">
            <a:extLst xmlns:a="http://schemas.openxmlformats.org/drawingml/2006/main">
              <a:ext uri="{FF2B5EF4-FFF2-40B4-BE49-F238E27FC236}">
                <a16:creationId xmlns:a16="http://schemas.microsoft.com/office/drawing/2014/main" id="{1A0D8D20-E37A-4A90-A328-2C9C4B2390DA}"/>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05</a:t>
            </a:r>
          </a:p>
        </p:txBody>
      </p:sp>
      <p:sp>
        <p:nvSpPr>
          <p:cNvPr id="3" name="Thu 2025/26, trung học. Tỷ lệ lý do tính trên số buổi c">
            <a:extLst xmlns:a="http://schemas.openxmlformats.org/drawingml/2006/main">
              <a:ext uri="{FF2B5EF4-FFF2-40B4-BE49-F238E27FC236}">
                <a16:creationId xmlns:a16="http://schemas.microsoft.com/office/drawing/2014/main" id="{25D3D76C-A936-4C49-B78F-8A2F1D3CD3AF}"/>
              </a:ext>
            </a:extLst>
          </p:cNvPr>
          <p:cNvSpPr>
            <a:spLocks xmlns:a="http://schemas.openxmlformats.org/drawingml/2006/main" noGrp="1"/>
          </p:cNvSpPr>
          <p:nvPr/>
        </p:nvSpPr>
        <p:spPr>
          <a:xfrm xmlns:a="http://schemas.openxmlformats.org/drawingml/2006/main">
            <a:off x="609600" y="1447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85F68"/>
                </a:solidFill>
                <a:latin typeface="Arial"/>
                <a:ea typeface="Arial"/>
                <a:cs typeface="Arial"/>
              </a:defRPr>
            </a:defPPr>
          </a:lstStyle>
          <a:p xmlns:a="http://schemas.openxmlformats.org/drawingml/2006/main">
            <a:pPr>
              <a:defRPr sz="1875" b="0">
                <a:solidFill>
                  <a:srgbClr val="485F68"/>
                </a:solidFill>
                <a:latin typeface="Arial"/>
                <a:ea typeface="Arial"/>
                <a:cs typeface="Arial"/>
              </a:defRPr>
            </a:pPr>
            <a:r>
              <a:rPr sz="1875" b="0">
                <a:solidFill>
                  <a:srgbClr val="485F68"/>
                </a:solidFill>
                <a:latin typeface="Arial"/>
                <a:ea typeface="Arial"/>
                <a:cs typeface="Arial"/>
              </a:rPr>
              <a:t>Thu 2025/26, trung học. Tỷ lệ lý do tính trên số buổi có thể tham dự, mỗi buổi là nửa ngày.</a:t>
            </a:r>
          </a:p>
        </p:txBody>
      </p:sp>
      <p:graphicFrame>
        <p:nvGraphicFramePr>
          <p:cNvPr id="4" name="">
            <a:extLst xmlns:a="http://schemas.openxmlformats.org/drawingml/2006/main">
              <a:ext uri="{FF2B5EF4-FFF2-40B4-BE49-F238E27FC236}">
                <a16:creationId xmlns:a16="http://schemas.microsoft.com/office/drawing/2014/main" id="{E4A89C3F-85E1-45FF-A36D-E3F30B9C4205}"/>
              </a:ext>
            </a:extLst>
          </p:cNvPr>
          <p:cNvGraphicFramePr/>
          <p:nvPr/>
        </p:nvGraphicFramePr>
        <p:xfrm>
          <a:off xmlns:a="http://schemas.openxmlformats.org/drawingml/2006/main" x="609600" y="2343150"/>
          <a:ext xmlns:a="http://schemas.openxmlformats.org/drawingml/2006/main" cx="10915650" cy="2276475"/>
        </p:xfrm>
        <a:graphic xmlns:a="http://schemas.openxmlformats.org/drawingml/2006/main">
          <a:graphicData uri="http://schemas.openxmlformats.org/drawingml/2006/table">
            <a:tbl>
              <a:tblPr firstRow="0" bandRow="0"/>
              <a:tblGrid>
                <a:gridCol w="4667250"/>
                <a:gridCol w="2000250"/>
                <a:gridCol w="2333625"/>
                <a:gridCol w="1914525"/>
              </a:tblGrid>
              <a:tr h="455295">
                <a:tc>
                  <a:txBody>
                    <a:bodyPr/>
                    <a:lstStyle/>
                    <a:p>
                      <a:r>
                        <a:rPr sz="1875" b="1">
                          <a:solidFill>
                            <a:srgbClr val="FFFFFF"/>
                          </a:solidFill>
                          <a:latin typeface="Arial"/>
                          <a:ea typeface="Arial"/>
                          <a:cs typeface="Arial"/>
                        </a:rPr>
                        <a:t>Địa bàn</a:t>
                      </a:r>
                    </a:p>
                  </a:txBody>
                  <a:tcPr marL="114300" marR="114300" marT="95250" marB="95250">
                    <a:solidFill>
                      <a:srgbClr val="162B35"/>
                    </a:solidFill>
                  </a:tcPr>
                </a:tc>
                <a:tc>
                  <a:txBody>
                    <a:bodyPr/>
                    <a:lstStyle/>
                    <a:p>
                      <a:r>
                        <a:rPr sz="1875" b="1">
                          <a:solidFill>
                            <a:srgbClr val="FFFFFF"/>
                          </a:solidFill>
                          <a:latin typeface="Arial"/>
                          <a:ea typeface="Arial"/>
                          <a:cs typeface="Arial"/>
                        </a:rPr>
                        <a:t>Ốm có phép</a:t>
                      </a:r>
                    </a:p>
                  </a:txBody>
                  <a:tcPr marL="114300" marR="114300" marT="95250" marB="95250">
                    <a:solidFill>
                      <a:srgbClr val="162B35"/>
                    </a:solidFill>
                  </a:tcPr>
                </a:tc>
                <a:tc>
                  <a:txBody>
                    <a:bodyPr/>
                    <a:lstStyle/>
                    <a:p>
                      <a:r>
                        <a:rPr sz="1875" b="1">
                          <a:solidFill>
                            <a:srgbClr val="FFFFFF"/>
                          </a:solidFill>
                          <a:latin typeface="Arial"/>
                          <a:ea typeface="Arial"/>
                          <a:cs typeface="Arial"/>
                        </a:rPr>
                        <a:t>Không phép khác</a:t>
                      </a:r>
                    </a:p>
                  </a:txBody>
                  <a:tcPr marL="114300" marR="114300" marT="95250" marB="95250">
                    <a:solidFill>
                      <a:srgbClr val="162B35"/>
                    </a:solidFill>
                  </a:tcPr>
                </a:tc>
                <a:tc>
                  <a:txBody>
                    <a:bodyPr/>
                    <a:lstStyle/>
                    <a:p>
                      <a:r>
                        <a:rPr sz="1875" b="1">
                          <a:solidFill>
                            <a:srgbClr val="FFFFFF"/>
                          </a:solidFill>
                          <a:latin typeface="Arial"/>
                          <a:ea typeface="Arial"/>
                          <a:cs typeface="Arial"/>
                        </a:rPr>
                        <a:t>Vắng ≥50%</a:t>
                      </a:r>
                    </a:p>
                  </a:txBody>
                  <a:tcPr marL="114300" marR="114300" marT="95250" marB="95250">
                    <a:solidFill>
                      <a:srgbClr val="162B35"/>
                    </a:solidFill>
                  </a:tcPr>
                </a:tc>
              </a:tr>
              <a:tr h="455295">
                <a:tc>
                  <a:txBody>
                    <a:bodyPr/>
                    <a:lstStyle/>
                    <a:p>
                      <a:r>
                        <a:rPr sz="1875" b="0">
                          <a:solidFill>
                            <a:srgbClr val="162B35"/>
                          </a:solidFill>
                          <a:latin typeface="Arial"/>
                          <a:ea typeface="Arial"/>
                          <a:cs typeface="Arial"/>
                        </a:rPr>
                        <a:t>Knowsley</a:t>
                      </a:r>
                    </a:p>
                  </a:txBody>
                  <a:tcPr marL="114300" marR="114300" marT="95250" marB="95250">
                    <a:solidFill>
                      <a:srgbClr val="FFFFFF"/>
                    </a:solidFill>
                  </a:tcPr>
                </a:tc>
                <a:tc>
                  <a:txBody>
                    <a:bodyPr/>
                    <a:lstStyle/>
                    <a:p>
                      <a:r>
                        <a:rPr sz="1875" b="0">
                          <a:solidFill>
                            <a:srgbClr val="162B35"/>
                          </a:solidFill>
                          <a:latin typeface="Arial"/>
                          <a:ea typeface="Arial"/>
                          <a:cs typeface="Arial"/>
                        </a:rPr>
                        <a:t>2,39%</a:t>
                      </a:r>
                    </a:p>
                  </a:txBody>
                  <a:tcPr marL="114300" marR="114300" marT="95250" marB="95250">
                    <a:solidFill>
                      <a:srgbClr val="FFFFFF"/>
                    </a:solidFill>
                  </a:tcPr>
                </a:tc>
                <a:tc>
                  <a:txBody>
                    <a:bodyPr/>
                    <a:lstStyle/>
                    <a:p>
                      <a:r>
                        <a:rPr sz="1875" b="0">
                          <a:solidFill>
                            <a:srgbClr val="162B35"/>
                          </a:solidFill>
                          <a:latin typeface="Arial"/>
                          <a:ea typeface="Arial"/>
                          <a:cs typeface="Arial"/>
                        </a:rPr>
                        <a:t>5,95%</a:t>
                      </a:r>
                    </a:p>
                  </a:txBody>
                  <a:tcPr marL="114300" marR="114300" marT="95250" marB="95250">
                    <a:solidFill>
                      <a:srgbClr val="FFFFFF"/>
                    </a:solidFill>
                  </a:tcPr>
                </a:tc>
                <a:tc>
                  <a:txBody>
                    <a:bodyPr/>
                    <a:lstStyle/>
                    <a:p>
                      <a:r>
                        <a:rPr sz="1875" b="0">
                          <a:solidFill>
                            <a:srgbClr val="162B35"/>
                          </a:solidFill>
                          <a:latin typeface="Arial"/>
                          <a:ea typeface="Arial"/>
                          <a:cs typeface="Arial"/>
                        </a:rPr>
                        <a:t>4,97%</a:t>
                      </a:r>
                    </a:p>
                  </a:txBody>
                  <a:tcPr marL="114300" marR="114300" marT="95250" marB="95250">
                    <a:solidFill>
                      <a:srgbClr val="FFFFFF"/>
                    </a:solidFill>
                  </a:tcPr>
                </a:tc>
              </a:tr>
              <a:tr h="455295">
                <a:tc>
                  <a:txBody>
                    <a:bodyPr/>
                    <a:lstStyle/>
                    <a:p>
                      <a:r>
                        <a:rPr sz="1875" b="0">
                          <a:solidFill>
                            <a:srgbClr val="162B35"/>
                          </a:solidFill>
                          <a:latin typeface="Arial"/>
                          <a:ea typeface="Arial"/>
                          <a:cs typeface="Arial"/>
                        </a:rPr>
                        <a:t>North East Lincolnshire</a:t>
                      </a:r>
                    </a:p>
                  </a:txBody>
                  <a:tcPr marL="114300" marR="114300" marT="95250" marB="95250">
                    <a:solidFill>
                      <a:srgbClr val="FFFFFF"/>
                    </a:solidFill>
                  </a:tcPr>
                </a:tc>
                <a:tc>
                  <a:txBody>
                    <a:bodyPr/>
                    <a:lstStyle/>
                    <a:p>
                      <a:r>
                        <a:rPr sz="1875" b="0">
                          <a:solidFill>
                            <a:srgbClr val="162B35"/>
                          </a:solidFill>
                          <a:latin typeface="Arial"/>
                          <a:ea typeface="Arial"/>
                          <a:cs typeface="Arial"/>
                        </a:rPr>
                        <a:t>4,18%</a:t>
                      </a:r>
                    </a:p>
                  </a:txBody>
                  <a:tcPr marL="114300" marR="114300" marT="95250" marB="95250">
                    <a:solidFill>
                      <a:srgbClr val="FFFFFF"/>
                    </a:solidFill>
                  </a:tcPr>
                </a:tc>
                <a:tc>
                  <a:txBody>
                    <a:bodyPr/>
                    <a:lstStyle/>
                    <a:p>
                      <a:r>
                        <a:rPr sz="1875" b="0">
                          <a:solidFill>
                            <a:srgbClr val="162B35"/>
                          </a:solidFill>
                          <a:latin typeface="Arial"/>
                          <a:ea typeface="Arial"/>
                          <a:cs typeface="Arial"/>
                        </a:rPr>
                        <a:t>3,33%</a:t>
                      </a:r>
                    </a:p>
                  </a:txBody>
                  <a:tcPr marL="114300" marR="114300" marT="95250" marB="95250">
                    <a:solidFill>
                      <a:srgbClr val="FFFFFF"/>
                    </a:solidFill>
                  </a:tcPr>
                </a:tc>
                <a:tc>
                  <a:txBody>
                    <a:bodyPr/>
                    <a:lstStyle/>
                    <a:p>
                      <a:r>
                        <a:rPr sz="1875" b="0">
                          <a:solidFill>
                            <a:srgbClr val="162B35"/>
                          </a:solidFill>
                          <a:latin typeface="Arial"/>
                          <a:ea typeface="Arial"/>
                          <a:cs typeface="Arial"/>
                        </a:rPr>
                        <a:t>4,76%</a:t>
                      </a:r>
                    </a:p>
                  </a:txBody>
                  <a:tcPr marL="114300" marR="114300" marT="95250" marB="95250">
                    <a:solidFill>
                      <a:srgbClr val="FFFFFF"/>
                    </a:solidFill>
                  </a:tcPr>
                </a:tc>
              </a:tr>
              <a:tr h="455295">
                <a:tc>
                  <a:txBody>
                    <a:bodyPr/>
                    <a:lstStyle/>
                    <a:p>
                      <a:r>
                        <a:rPr sz="1875" b="0">
                          <a:solidFill>
                            <a:srgbClr val="162B35"/>
                          </a:solidFill>
                          <a:latin typeface="Arial"/>
                          <a:ea typeface="Arial"/>
                          <a:cs typeface="Arial"/>
                        </a:rPr>
                        <a:t>Blackburn with Darwen</a:t>
                      </a:r>
                    </a:p>
                  </a:txBody>
                  <a:tcPr marL="114300" marR="114300" marT="95250" marB="95250">
                    <a:solidFill>
                      <a:srgbClr val="FFFFFF"/>
                    </a:solidFill>
                  </a:tcPr>
                </a:tc>
                <a:tc>
                  <a:txBody>
                    <a:bodyPr/>
                    <a:lstStyle/>
                    <a:p>
                      <a:r>
                        <a:rPr sz="1875" b="0">
                          <a:solidFill>
                            <a:srgbClr val="162B35"/>
                          </a:solidFill>
                          <a:latin typeface="Arial"/>
                          <a:ea typeface="Arial"/>
                          <a:cs typeface="Arial"/>
                        </a:rPr>
                        <a:t>3,98%</a:t>
                      </a:r>
                    </a:p>
                  </a:txBody>
                  <a:tcPr marL="114300" marR="114300" marT="95250" marB="95250">
                    <a:solidFill>
                      <a:srgbClr val="FFFFFF"/>
                    </a:solidFill>
                  </a:tcPr>
                </a:tc>
                <a:tc>
                  <a:txBody>
                    <a:bodyPr/>
                    <a:lstStyle/>
                    <a:p>
                      <a:r>
                        <a:rPr sz="1875" b="0">
                          <a:solidFill>
                            <a:srgbClr val="162B35"/>
                          </a:solidFill>
                          <a:latin typeface="Arial"/>
                          <a:ea typeface="Arial"/>
                          <a:cs typeface="Arial"/>
                        </a:rPr>
                        <a:t>2,19%</a:t>
                      </a:r>
                    </a:p>
                  </a:txBody>
                  <a:tcPr marL="114300" marR="114300" marT="95250" marB="95250">
                    <a:solidFill>
                      <a:srgbClr val="FFFFFF"/>
                    </a:solidFill>
                  </a:tcPr>
                </a:tc>
                <a:tc>
                  <a:txBody>
                    <a:bodyPr/>
                    <a:lstStyle/>
                    <a:p>
                      <a:r>
                        <a:rPr sz="1875" b="0">
                          <a:solidFill>
                            <a:srgbClr val="162B35"/>
                          </a:solidFill>
                          <a:latin typeface="Arial"/>
                          <a:ea typeface="Arial"/>
                          <a:cs typeface="Arial"/>
                        </a:rPr>
                        <a:t>3,28%</a:t>
                      </a:r>
                    </a:p>
                  </a:txBody>
                  <a:tcPr marL="114300" marR="114300" marT="95250" marB="95250">
                    <a:solidFill>
                      <a:srgbClr val="FFFFFF"/>
                    </a:solidFill>
                  </a:tcPr>
                </a:tc>
              </a:tr>
              <a:tr h="455295">
                <a:tc>
                  <a:txBody>
                    <a:bodyPr/>
                    <a:lstStyle/>
                    <a:p>
                      <a:r>
                        <a:rPr sz="1875" b="0">
                          <a:solidFill>
                            <a:srgbClr val="162B35"/>
                          </a:solidFill>
                          <a:latin typeface="Arial"/>
                          <a:ea typeface="Arial"/>
                          <a:cs typeface="Arial"/>
                        </a:rPr>
                        <a:t>England</a:t>
                      </a:r>
                    </a:p>
                  </a:txBody>
                  <a:tcPr marL="114300" marR="114300" marT="95250" marB="95250">
                    <a:solidFill>
                      <a:srgbClr val="FFFFFF"/>
                    </a:solidFill>
                  </a:tcPr>
                </a:tc>
                <a:tc>
                  <a:txBody>
                    <a:bodyPr/>
                    <a:lstStyle/>
                    <a:p>
                      <a:r>
                        <a:rPr sz="1875" b="0">
                          <a:solidFill>
                            <a:srgbClr val="162B35"/>
                          </a:solidFill>
                          <a:latin typeface="Arial"/>
                          <a:ea typeface="Arial"/>
                          <a:cs typeface="Arial"/>
                        </a:rPr>
                        <a:t>3,78%</a:t>
                      </a:r>
                    </a:p>
                  </a:txBody>
                  <a:tcPr marL="114300" marR="114300" marT="95250" marB="95250">
                    <a:solidFill>
                      <a:srgbClr val="FFFFFF"/>
                    </a:solidFill>
                  </a:tcPr>
                </a:tc>
                <a:tc>
                  <a:txBody>
                    <a:bodyPr/>
                    <a:lstStyle/>
                    <a:p>
                      <a:r>
                        <a:rPr sz="1875" b="0">
                          <a:solidFill>
                            <a:srgbClr val="162B35"/>
                          </a:solidFill>
                          <a:latin typeface="Arial"/>
                          <a:ea typeface="Arial"/>
                          <a:cs typeface="Arial"/>
                        </a:rPr>
                        <a:t>2,13%</a:t>
                      </a:r>
                    </a:p>
                  </a:txBody>
                  <a:tcPr marL="114300" marR="114300" marT="95250" marB="95250">
                    <a:solidFill>
                      <a:srgbClr val="FFFFFF"/>
                    </a:solidFill>
                  </a:tcPr>
                </a:tc>
                <a:tc>
                  <a:txBody>
                    <a:bodyPr/>
                    <a:lstStyle/>
                    <a:p>
                      <a:r>
                        <a:rPr sz="1875" b="0">
                          <a:solidFill>
                            <a:srgbClr val="162B35"/>
                          </a:solidFill>
                          <a:latin typeface="Arial"/>
                          <a:ea typeface="Arial"/>
                          <a:cs typeface="Arial"/>
                        </a:rPr>
                        <a:t>3,16%</a:t>
                      </a:r>
                    </a:p>
                  </a:txBody>
                  <a:tcPr marL="114300" marR="114300" marT="95250" marB="95250">
                    <a:solidFill>
                      <a:srgbClr val="FFFFFF"/>
                    </a:solidFill>
                  </a:tcPr>
                </a:tc>
              </a:tr>
            </a:tbl>
          </a:graphicData>
        </a:graphic>
      </p:graphicFrame>
      <p:sp>
        <p:nvSpPr>
          <p:cNvPr id="5" name="Knowsley: kiểm tra trở ngại đi học và giao tiếp với gia">
            <a:extLst xmlns:a="http://schemas.openxmlformats.org/drawingml/2006/main">
              <a:ext uri="{FF2B5EF4-FFF2-40B4-BE49-F238E27FC236}">
                <a16:creationId xmlns:a16="http://schemas.microsoft.com/office/drawing/2014/main" id="{F18658BA-C962-4576-999E-219B9AD22436}"/>
              </a:ext>
            </a:extLst>
          </p:cNvPr>
          <p:cNvSpPr>
            <a:spLocks xmlns:a="http://schemas.openxmlformats.org/drawingml/2006/main" noGrp="1"/>
          </p:cNvSpPr>
          <p:nvPr/>
        </p:nvSpPr>
        <p:spPr>
          <a:xfrm xmlns:a="http://schemas.openxmlformats.org/drawingml/2006/main">
            <a:off x="609600" y="48768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Knowsley: kiểm tra trở ngại đi học và giao tiếp với gia đình.</a:t>
            </a:r>
          </a:p>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Hai địa bàn còn lại: kiểm tra cả nhu cầu sức khỏe và tuyến hỗ trợ phù hợp.</a:t>
            </a:r>
          </a:p>
        </p:txBody>
      </p:sp>
      <p:sp>
        <p:nvSpPr>
          <p:cNvPr id="6" name="Mã lý do là ghi nhận của trường. Cột vắng ≥50% dùng tổn">
            <a:extLst xmlns:a="http://schemas.openxmlformats.org/drawingml/2006/main">
              <a:ext uri="{FF2B5EF4-FFF2-40B4-BE49-F238E27FC236}">
                <a16:creationId xmlns:a16="http://schemas.microsoft.com/office/drawing/2014/main" id="{8B4B7D35-1189-403B-8AB7-9F56C5216D98}"/>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Mã lý do là ghi nhận của trường. Cột vắng ≥50% dùng tổng lượt ghi danh làm mẫu số. Chưa biết nguyên nhân hay khả năng nhận hỗ trợ.</a:t>
            </a:r>
          </a:p>
        </p:txBody>
      </p:sp>
    </p:spTree>
    <p:extLst>
      <p:ext uri="{BB962C8B-B14F-4D97-AF65-F5344CB8AC3E}">
        <p14:creationId xmlns:p14="http://schemas.microsoft.com/office/powerpoint/2010/main" val="1791940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ột nhóm giữ lại nguồn lực cho quyết định sau">
            <a:extLst xmlns:a="http://schemas.openxmlformats.org/drawingml/2006/main">
              <a:ext uri="{FF2B5EF4-FFF2-40B4-BE49-F238E27FC236}">
                <a16:creationId xmlns:a16="http://schemas.microsoft.com/office/drawing/2014/main" id="{156355ED-8F0D-4A9F-9877-84BB2FCBDF76}"/>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Một nhóm giữ lại nguồn lực cho quyết định sau</a:t>
            </a:r>
          </a:p>
        </p:txBody>
      </p:sp>
      <p:sp>
        <p:nvSpPr>
          <p:cNvPr id="2" name="06">
            <a:extLst xmlns:a="http://schemas.openxmlformats.org/drawingml/2006/main">
              <a:ext uri="{FF2B5EF4-FFF2-40B4-BE49-F238E27FC236}">
                <a16:creationId xmlns:a16="http://schemas.microsoft.com/office/drawing/2014/main" id="{62FEC15A-71AF-444F-995F-7BDA63927421}"/>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A62664B3-36F7-4C53-8CA5-D4147CDBCEDD}"/>
              </a:ext>
            </a:extLst>
          </p:cNvPr>
          <p:cNvGraphicFramePr/>
          <p:nvPr/>
        </p:nvGraphicFramePr>
        <p:xfrm>
          <a:off xmlns:a="http://schemas.openxmlformats.org/drawingml/2006/main" x="609600" y="1800225"/>
          <a:ext xmlns:a="http://schemas.openxmlformats.org/drawingml/2006/main" cx="10915650" cy="2085975"/>
        </p:xfrm>
        <a:graphic xmlns:a="http://schemas.openxmlformats.org/drawingml/2006/main">
          <a:graphicData uri="http://schemas.openxmlformats.org/drawingml/2006/table">
            <a:tbl>
              <a:tblPr firstRow="0" bandRow="0"/>
              <a:tblGrid>
                <a:gridCol w="3429000"/>
                <a:gridCol w="1619250"/>
                <a:gridCol w="3429000"/>
                <a:gridCol w="2438400"/>
              </a:tblGrid>
              <a:tr h="521494">
                <a:tc>
                  <a:txBody>
                    <a:bodyPr/>
                    <a:lstStyle/>
                    <a:p>
                      <a:r>
                        <a:rPr sz="2025" b="1">
                          <a:solidFill>
                            <a:srgbClr val="FFFFFF"/>
                          </a:solidFill>
                          <a:latin typeface="Arial"/>
                          <a:ea typeface="Arial"/>
                          <a:cs typeface="Arial"/>
                        </a:rPr>
                        <a:t>Phạm vi giả lập</a:t>
                      </a:r>
                    </a:p>
                  </a:txBody>
                  <a:tcPr marL="114300" marR="114300" marT="95250" marB="95250">
                    <a:solidFill>
                      <a:srgbClr val="162B35"/>
                    </a:solidFill>
                  </a:tcPr>
                </a:tc>
                <a:tc>
                  <a:txBody>
                    <a:bodyPr/>
                    <a:lstStyle/>
                    <a:p>
                      <a:r>
                        <a:rPr sz="2025" b="1">
                          <a:solidFill>
                            <a:srgbClr val="FFFFFF"/>
                          </a:solidFill>
                          <a:latin typeface="Arial"/>
                          <a:ea typeface="Arial"/>
                          <a:cs typeface="Arial"/>
                        </a:rPr>
                        <a:t>Nhân sự</a:t>
                      </a:r>
                    </a:p>
                  </a:txBody>
                  <a:tcPr marL="114300" marR="114300" marT="95250" marB="95250">
                    <a:solidFill>
                      <a:srgbClr val="162B35"/>
                    </a:solidFill>
                  </a:tcPr>
                </a:tc>
                <a:tc>
                  <a:txBody>
                    <a:bodyPr/>
                    <a:lstStyle/>
                    <a:p>
                      <a:r>
                        <a:rPr sz="2025" b="1">
                          <a:solidFill>
                            <a:srgbClr val="FFFFFF"/>
                          </a:solidFill>
                          <a:latin typeface="Arial"/>
                          <a:ea typeface="Arial"/>
                          <a:cs typeface="Arial"/>
                        </a:rPr>
                        <a:t>Gia đình đồng thời tối đa</a:t>
                      </a:r>
                    </a:p>
                  </a:txBody>
                  <a:tcPr marL="114300" marR="114300" marT="95250" marB="95250">
                    <a:solidFill>
                      <a:srgbClr val="162B35"/>
                    </a:solidFill>
                  </a:tcPr>
                </a:tc>
                <a:tc>
                  <a:txBody>
                    <a:bodyPr/>
                    <a:lstStyle/>
                    <a:p>
                      <a:r>
                        <a:rPr sz="2025" b="1">
                          <a:solidFill>
                            <a:srgbClr val="FFFFFF"/>
                          </a:solidFill>
                          <a:latin typeface="Arial"/>
                          <a:ea typeface="Arial"/>
                          <a:cs typeface="Arial"/>
                        </a:rPr>
                        <a:t>Trần GBP</a:t>
                      </a:r>
                    </a:p>
                  </a:txBody>
                  <a:tcPr marL="114300" marR="114300" marT="95250" marB="95250">
                    <a:solidFill>
                      <a:srgbClr val="162B35"/>
                    </a:solidFill>
                  </a:tcPr>
                </a:tc>
              </a:tr>
              <a:tr h="521494">
                <a:tc>
                  <a:txBody>
                    <a:bodyPr/>
                    <a:lstStyle/>
                    <a:p>
                      <a:r>
                        <a:rPr sz="2025" b="0">
                          <a:solidFill>
                            <a:srgbClr val="162B35"/>
                          </a:solidFill>
                          <a:latin typeface="Arial"/>
                          <a:ea typeface="Arial"/>
                          <a:cs typeface="Arial"/>
                        </a:rPr>
                        <a:t>Chưa mở</a:t>
                      </a:r>
                    </a:p>
                  </a:txBody>
                  <a:tcPr marL="114300" marR="114300" marT="95250" marB="95250">
                    <a:solidFill>
                      <a:srgbClr val="FFFFFF"/>
                    </a:solidFill>
                  </a:tcPr>
                </a:tc>
                <a:tc>
                  <a:txBody>
                    <a:bodyPr/>
                    <a:lstStyle/>
                    <a:p>
                      <a:r>
                        <a:rPr sz="2025" b="0">
                          <a:solidFill>
                            <a:srgbClr val="162B35"/>
                          </a:solidFill>
                          <a:latin typeface="Arial"/>
                          <a:ea typeface="Arial"/>
                          <a:cs typeface="Arial"/>
                        </a:rPr>
                        <a:t>0</a:t>
                      </a:r>
                    </a:p>
                  </a:txBody>
                  <a:tcPr marL="114300" marR="114300" marT="95250" marB="95250">
                    <a:solidFill>
                      <a:srgbClr val="FFFFFF"/>
                    </a:solidFill>
                  </a:tcPr>
                </a:tc>
                <a:tc>
                  <a:txBody>
                    <a:bodyPr/>
                    <a:lstStyle/>
                    <a:p>
                      <a:r>
                        <a:rPr sz="2025" b="0">
                          <a:solidFill>
                            <a:srgbClr val="162B35"/>
                          </a:solidFill>
                          <a:latin typeface="Arial"/>
                          <a:ea typeface="Arial"/>
                          <a:cs typeface="Arial"/>
                        </a:rPr>
                        <a:t>0</a:t>
                      </a:r>
                    </a:p>
                  </a:txBody>
                  <a:tcPr marL="114300" marR="114300" marT="95250" marB="95250">
                    <a:solidFill>
                      <a:srgbClr val="FFFFFF"/>
                    </a:solidFill>
                  </a:tcPr>
                </a:tc>
                <a:tc>
                  <a:txBody>
                    <a:bodyPr/>
                    <a:lstStyle/>
                    <a:p>
                      <a:r>
                        <a:rPr sz="2025" b="0">
                          <a:solidFill>
                            <a:srgbClr val="162B35"/>
                          </a:solidFill>
                          <a:latin typeface="Arial"/>
                          <a:ea typeface="Arial"/>
                          <a:cs typeface="Arial"/>
                        </a:rPr>
                        <a:t>0</a:t>
                      </a:r>
                    </a:p>
                  </a:txBody>
                  <a:tcPr marL="114300" marR="114300" marT="95250" marB="95250">
                    <a:solidFill>
                      <a:srgbClr val="FFFFFF"/>
                    </a:solidFill>
                  </a:tcPr>
                </a:tc>
              </a:tr>
              <a:tr h="521494">
                <a:tc>
                  <a:txBody>
                    <a:bodyPr/>
                    <a:lstStyle/>
                    <a:p>
                      <a:r>
                        <a:rPr sz="2025" b="0">
                          <a:solidFill>
                            <a:srgbClr val="162B35"/>
                          </a:solidFill>
                          <a:latin typeface="Arial"/>
                          <a:ea typeface="Arial"/>
                          <a:cs typeface="Arial"/>
                        </a:rPr>
                        <a:t>Một địa bàn</a:t>
                      </a:r>
                    </a:p>
                  </a:txBody>
                  <a:tcPr marL="114300" marR="114300" marT="95250" marB="95250">
                    <a:solidFill>
                      <a:srgbClr val="FFFFFF"/>
                    </a:solidFill>
                  </a:tcPr>
                </a:tc>
                <a:tc>
                  <a:txBody>
                    <a:bodyPr/>
                    <a:lstStyle/>
                    <a:p>
                      <a:r>
                        <a:rPr sz="2025" b="0">
                          <a:solidFill>
                            <a:srgbClr val="162B35"/>
                          </a:solidFill>
                          <a:latin typeface="Arial"/>
                          <a:ea typeface="Arial"/>
                          <a:cs typeface="Arial"/>
                        </a:rPr>
                        <a:t>4</a:t>
                      </a:r>
                    </a:p>
                  </a:txBody>
                  <a:tcPr marL="114300" marR="114300" marT="95250" marB="95250">
                    <a:solidFill>
                      <a:srgbClr val="FFFFFF"/>
                    </a:solidFill>
                  </a:tcPr>
                </a:tc>
                <a:tc>
                  <a:txBody>
                    <a:bodyPr/>
                    <a:lstStyle/>
                    <a:p>
                      <a:r>
                        <a:rPr sz="2025" b="0">
                          <a:solidFill>
                            <a:srgbClr val="162B35"/>
                          </a:solidFill>
                          <a:latin typeface="Arial"/>
                          <a:ea typeface="Arial"/>
                          <a:cs typeface="Arial"/>
                        </a:rPr>
                        <a:t>60</a:t>
                      </a:r>
                    </a:p>
                  </a:txBody>
                  <a:tcPr marL="114300" marR="114300" marT="95250" marB="95250">
                    <a:solidFill>
                      <a:srgbClr val="FFFFFF"/>
                    </a:solidFill>
                  </a:tcPr>
                </a:tc>
                <a:tc>
                  <a:txBody>
                    <a:bodyPr/>
                    <a:lstStyle/>
                    <a:p>
                      <a:r>
                        <a:rPr sz="2025" b="0">
                          <a:solidFill>
                            <a:srgbClr val="162B35"/>
                          </a:solidFill>
                          <a:latin typeface="Arial"/>
                          <a:ea typeface="Arial"/>
                          <a:cs typeface="Arial"/>
                        </a:rPr>
                        <a:t>70.000</a:t>
                      </a:r>
                    </a:p>
                  </a:txBody>
                  <a:tcPr marL="114300" marR="114300" marT="95250" marB="95250">
                    <a:solidFill>
                      <a:srgbClr val="FFFFFF"/>
                    </a:solidFill>
                  </a:tcPr>
                </a:tc>
              </a:tr>
              <a:tr h="521494">
                <a:tc>
                  <a:txBody>
                    <a:bodyPr/>
                    <a:lstStyle/>
                    <a:p>
                      <a:r>
                        <a:rPr sz="2025" b="0">
                          <a:solidFill>
                            <a:srgbClr val="162B35"/>
                          </a:solidFill>
                          <a:latin typeface="Arial"/>
                          <a:ea typeface="Arial"/>
                          <a:cs typeface="Arial"/>
                        </a:rPr>
                        <a:t>Ba địa bàn</a:t>
                      </a:r>
                    </a:p>
                  </a:txBody>
                  <a:tcPr marL="114300" marR="114300" marT="95250" marB="95250">
                    <a:solidFill>
                      <a:srgbClr val="FFFFFF"/>
                    </a:solidFill>
                  </a:tcPr>
                </a:tc>
                <a:tc>
                  <a:txBody>
                    <a:bodyPr/>
                    <a:lstStyle/>
                    <a:p>
                      <a:r>
                        <a:rPr sz="2025" b="0">
                          <a:solidFill>
                            <a:srgbClr val="162B35"/>
                          </a:solidFill>
                          <a:latin typeface="Arial"/>
                          <a:ea typeface="Arial"/>
                          <a:cs typeface="Arial"/>
                        </a:rPr>
                        <a:t>12</a:t>
                      </a:r>
                    </a:p>
                  </a:txBody>
                  <a:tcPr marL="114300" marR="114300" marT="95250" marB="95250">
                    <a:solidFill>
                      <a:srgbClr val="FFFFFF"/>
                    </a:solidFill>
                  </a:tcPr>
                </a:tc>
                <a:tc>
                  <a:txBody>
                    <a:bodyPr/>
                    <a:lstStyle/>
                    <a:p>
                      <a:r>
                        <a:rPr sz="2025" b="0">
                          <a:solidFill>
                            <a:srgbClr val="162B35"/>
                          </a:solidFill>
                          <a:latin typeface="Arial"/>
                          <a:ea typeface="Arial"/>
                          <a:cs typeface="Arial"/>
                        </a:rPr>
                        <a:t>180</a:t>
                      </a:r>
                    </a:p>
                  </a:txBody>
                  <a:tcPr marL="114300" marR="114300" marT="95250" marB="95250">
                    <a:solidFill>
                      <a:srgbClr val="FFFFFF"/>
                    </a:solidFill>
                  </a:tcPr>
                </a:tc>
                <a:tc>
                  <a:txBody>
                    <a:bodyPr/>
                    <a:lstStyle/>
                    <a:p>
                      <a:r>
                        <a:rPr sz="2025" b="0">
                          <a:solidFill>
                            <a:srgbClr val="162B35"/>
                          </a:solidFill>
                          <a:latin typeface="Arial"/>
                          <a:ea typeface="Arial"/>
                          <a:cs typeface="Arial"/>
                        </a:rPr>
                        <a:t>210.000</a:t>
                      </a:r>
                    </a:p>
                  </a:txBody>
                  <a:tcPr marL="114300" marR="114300" marT="95250" marB="95250">
                    <a:solidFill>
                      <a:srgbClr val="FFFFFF"/>
                    </a:solidFill>
                  </a:tcPr>
                </a:tc>
              </a:tr>
            </a:tbl>
          </a:graphicData>
        </a:graphic>
      </p:graphicFrame>
      <p:sp>
        <p:nvSpPr>
          <p:cNvPr id="4" name="Đề xuất một nhóm tại một địa bàn trong một học kỳ.&#10;Giữ ">
            <a:extLst xmlns:a="http://schemas.openxmlformats.org/drawingml/2006/main">
              <a:ext uri="{FF2B5EF4-FFF2-40B4-BE49-F238E27FC236}">
                <a16:creationId xmlns:a16="http://schemas.microsoft.com/office/drawing/2014/main" id="{3BF2B213-D232-4F06-9A48-6324B99AF74F}"/>
              </a:ext>
            </a:extLst>
          </p:cNvPr>
          <p:cNvSpPr>
            <a:spLocks xmlns:a="http://schemas.openxmlformats.org/drawingml/2006/main" noGrp="1"/>
          </p:cNvSpPr>
          <p:nvPr/>
        </p:nvSpPr>
        <p:spPr>
          <a:xfrm xmlns:a="http://schemas.openxmlformats.org/drawingml/2006/main">
            <a:off x="609600" y="4238625"/>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B6273"/>
                </a:solidFill>
                <a:latin typeface="Arial"/>
                <a:ea typeface="Arial"/>
                <a:cs typeface="Arial"/>
              </a:defRPr>
            </a:defPPr>
          </a:lstStyle>
          <a:p xmlns:a="http://schemas.openxmlformats.org/drawingml/2006/main">
            <a:pPr>
              <a:defRPr sz="2475" b="1">
                <a:solidFill>
                  <a:srgbClr val="1B6273"/>
                </a:solidFill>
                <a:latin typeface="Arial"/>
                <a:ea typeface="Arial"/>
                <a:cs typeface="Arial"/>
              </a:defRPr>
            </a:pPr>
            <a:r>
              <a:rPr sz="2475" b="1">
                <a:solidFill>
                  <a:srgbClr val="1B6273"/>
                </a:solidFill>
                <a:latin typeface="Arial"/>
                <a:ea typeface="Arial"/>
                <a:cs typeface="Arial"/>
              </a:rPr>
              <a:t>Đề xuất một nhóm tại một địa bàn trong một học kỳ.</a:t>
            </a:r>
          </a:p>
          <a:p xmlns:a="http://schemas.openxmlformats.org/drawingml/2006/main">
            <a:pPr>
              <a:defRPr sz="2475" b="1">
                <a:solidFill>
                  <a:srgbClr val="1B6273"/>
                </a:solidFill>
                <a:latin typeface="Arial"/>
                <a:ea typeface="Arial"/>
                <a:cs typeface="Arial"/>
              </a:defRPr>
            </a:pPr>
            <a:r>
              <a:rPr sz="2475" b="1">
                <a:solidFill>
                  <a:srgbClr val="1B6273"/>
                </a:solidFill>
                <a:latin typeface="Arial"/>
                <a:ea typeface="Arial"/>
                <a:cs typeface="Arial"/>
              </a:rPr>
              <a:t>Giữ 8 nhân sự và 140.000 GBP chưa phân bổ.</a:t>
            </a:r>
          </a:p>
        </p:txBody>
      </p:sp>
      <p:sp>
        <p:nvSpPr>
          <p:cNvPr id="5" name="Gói ban đầu: hỗ trợ gia đình có trẻ trung học vắng 10% ">
            <a:extLst xmlns:a="http://schemas.openxmlformats.org/drawingml/2006/main">
              <a:ext uri="{FF2B5EF4-FFF2-40B4-BE49-F238E27FC236}">
                <a16:creationId xmlns:a16="http://schemas.microsoft.com/office/drawing/2014/main" id="{D430D49B-8C9D-4DDB-B1BA-38CF283E8B8A}"/>
              </a:ext>
            </a:extLst>
          </p:cNvPr>
          <p:cNvSpPr>
            <a:spLocks xmlns:a="http://schemas.openxmlformats.org/drawingml/2006/main" noGrp="1"/>
          </p:cNvSpPr>
          <p:nvPr/>
        </p:nvSpPr>
        <p:spPr>
          <a:xfrm xmlns:a="http://schemas.openxmlformats.org/drawingml/2006/main">
            <a:off x="609600" y="533400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62B35"/>
                </a:solidFill>
                <a:latin typeface="Arial"/>
                <a:ea typeface="Arial"/>
                <a:cs typeface="Arial"/>
              </a:defRPr>
            </a:defPPr>
          </a:lstStyle>
          <a:p xmlns:a="http://schemas.openxmlformats.org/drawingml/2006/main">
            <a:pPr>
              <a:defRPr sz="1950" b="0">
                <a:solidFill>
                  <a:srgbClr val="162B35"/>
                </a:solidFill>
                <a:latin typeface="Arial"/>
                <a:ea typeface="Arial"/>
                <a:cs typeface="Arial"/>
              </a:defRPr>
            </a:pPr>
            <a:r>
              <a:rPr sz="1950" b="0">
                <a:solidFill>
                  <a:srgbClr val="162B35"/>
                </a:solidFill>
                <a:latin typeface="Arial"/>
                <a:ea typeface="Arial"/>
                <a:cs typeface="Arial"/>
              </a:rPr>
              <a:t>Gói ban đầu: hỗ trợ gia đình có trẻ trung học vắng 10% đến dưới 50%, sau xác minh từng trẻ và nhu cầu. Có chuyển tiếp khi cần chuyên môn khác.</a:t>
            </a:r>
          </a:p>
        </p:txBody>
      </p:sp>
      <p:sp>
        <p:nvSpPr>
          <p:cNvPr id="6" name="Đây là trần lập kế hoạch, chưa phải chi phí đã chi hoặc">
            <a:extLst xmlns:a="http://schemas.openxmlformats.org/drawingml/2006/main">
              <a:ext uri="{FF2B5EF4-FFF2-40B4-BE49-F238E27FC236}">
                <a16:creationId xmlns:a16="http://schemas.microsoft.com/office/drawing/2014/main" id="{2D02DBD4-FF3D-49EB-8DC9-6F8324A3589E}"/>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Đây là trần lập kế hoạch, chưa phải chi phí đã chi hoặc số người đủ điều kiện. Giới hạn 60 là đồng thời, không phải tổng học kỳ.</a:t>
            </a:r>
          </a:p>
        </p:txBody>
      </p:sp>
    </p:spTree>
    <p:extLst>
      <p:ext uri="{BB962C8B-B14F-4D97-AF65-F5344CB8AC3E}">
        <p14:creationId xmlns:p14="http://schemas.microsoft.com/office/powerpoint/2010/main" val="8226999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riển khai còn phụ thuộc bằng chứng địa phương">
            <a:extLst xmlns:a="http://schemas.openxmlformats.org/drawingml/2006/main">
              <a:ext uri="{FF2B5EF4-FFF2-40B4-BE49-F238E27FC236}">
                <a16:creationId xmlns:a16="http://schemas.microsoft.com/office/drawing/2014/main" id="{FB6F9F64-D8CC-4B21-98DB-230DBBA0E56C}"/>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Triển khai còn phụ thuộc bằng chứng địa phương</a:t>
            </a:r>
          </a:p>
        </p:txBody>
      </p:sp>
      <p:sp>
        <p:nvSpPr>
          <p:cNvPr id="2" name="07">
            <a:extLst xmlns:a="http://schemas.openxmlformats.org/drawingml/2006/main">
              <a:ext uri="{FF2B5EF4-FFF2-40B4-BE49-F238E27FC236}">
                <a16:creationId xmlns:a16="http://schemas.microsoft.com/office/drawing/2014/main" id="{84BB4539-6D11-4B2A-9A0C-B26D311F97EB}"/>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07</a:t>
            </a:r>
          </a:p>
        </p:txBody>
      </p:sp>
      <p:sp>
        <p:nvSpPr>
          <p:cNvPr id="3" name="Hiện chưa địa bàn nào có đủ điều kiện đã xác minh. Mỗi ">
            <a:extLst xmlns:a="http://schemas.openxmlformats.org/drawingml/2006/main">
              <a:ext uri="{FF2B5EF4-FFF2-40B4-BE49-F238E27FC236}">
                <a16:creationId xmlns:a16="http://schemas.microsoft.com/office/drawing/2014/main" id="{61A93CDE-AF4D-4FD6-BB47-C2DD3B851EC0}"/>
              </a:ext>
            </a:extLst>
          </p:cNvPr>
          <p:cNvSpPr>
            <a:spLocks xmlns:a="http://schemas.openxmlformats.org/drawingml/2006/main" noGrp="1"/>
          </p:cNvSpPr>
          <p:nvPr/>
        </p:nvSpPr>
        <p:spPr>
          <a:xfrm xmlns:a="http://schemas.openxmlformats.org/drawingml/2006/main">
            <a:off x="609600" y="14478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B6273"/>
                </a:solidFill>
                <a:latin typeface="Arial"/>
                <a:ea typeface="Arial"/>
                <a:cs typeface="Arial"/>
              </a:defRPr>
            </a:defPPr>
          </a:lstStyle>
          <a:p xmlns:a="http://schemas.openxmlformats.org/drawingml/2006/main">
            <a:pPr>
              <a:defRPr sz="2100" b="1">
                <a:solidFill>
                  <a:srgbClr val="1B6273"/>
                </a:solidFill>
                <a:latin typeface="Arial"/>
                <a:ea typeface="Arial"/>
                <a:cs typeface="Arial"/>
              </a:defRPr>
            </a:pPr>
            <a:r>
              <a:rPr sz="2100" b="1">
                <a:solidFill>
                  <a:srgbClr val="1B6273"/>
                </a:solidFill>
                <a:latin typeface="Arial"/>
                <a:ea typeface="Arial"/>
                <a:cs typeface="Arial"/>
              </a:rPr>
              <a:t>Hiện chưa địa bàn nào có đủ điều kiện đã xác minh. Mỗi dòng cần bằng chứng hoàn tất trước khi duyệt mở.</a:t>
            </a:r>
          </a:p>
        </p:txBody>
      </p:sp>
      <p:graphicFrame>
        <p:nvGraphicFramePr>
          <p:cNvPr id="4" name="">
            <a:extLst xmlns:a="http://schemas.openxmlformats.org/drawingml/2006/main">
              <a:ext uri="{FF2B5EF4-FFF2-40B4-BE49-F238E27FC236}">
                <a16:creationId xmlns:a16="http://schemas.microsoft.com/office/drawing/2014/main" id="{4B33E292-D117-408A-AE45-C6430A1B943A}"/>
              </a:ext>
            </a:extLst>
          </p:cNvPr>
          <p:cNvGraphicFramePr/>
          <p:nvPr/>
        </p:nvGraphicFramePr>
        <p:xfrm>
          <a:off xmlns:a="http://schemas.openxmlformats.org/drawingml/2006/main" x="609600" y="2381250"/>
          <a:ext xmlns:a="http://schemas.openxmlformats.org/drawingml/2006/main" cx="10915650" cy="2943225"/>
        </p:xfrm>
        <a:graphic xmlns:a="http://schemas.openxmlformats.org/drawingml/2006/main">
          <a:graphicData uri="http://schemas.openxmlformats.org/drawingml/2006/table">
            <a:tbl>
              <a:tblPr firstRow="0" bandRow="0"/>
              <a:tblGrid>
                <a:gridCol w="7362825"/>
                <a:gridCol w="3552825"/>
              </a:tblGrid>
              <a:tr h="490538">
                <a:tc>
                  <a:txBody>
                    <a:bodyPr/>
                    <a:lstStyle/>
                    <a:p>
                      <a:r>
                        <a:rPr sz="1875" b="1">
                          <a:solidFill>
                            <a:srgbClr val="FFFFFF"/>
                          </a:solidFill>
                          <a:latin typeface="Arial"/>
                          <a:ea typeface="Arial"/>
                          <a:cs typeface="Arial"/>
                        </a:rPr>
                        <a:t>Điều kiện cần hoàn tất</a:t>
                      </a:r>
                    </a:p>
                  </a:txBody>
                  <a:tcPr marL="114300" marR="114300" marT="95250" marB="95250">
                    <a:solidFill>
                      <a:srgbClr val="162B35"/>
                    </a:solidFill>
                  </a:tcPr>
                </a:tc>
                <a:tc>
                  <a:txBody>
                    <a:bodyPr/>
                    <a:lstStyle/>
                    <a:p>
                      <a:r>
                        <a:rPr sz="1875" b="1">
                          <a:solidFill>
                            <a:srgbClr val="FFFFFF"/>
                          </a:solidFill>
                          <a:latin typeface="Arial"/>
                          <a:ea typeface="Arial"/>
                          <a:cs typeface="Arial"/>
                        </a:rPr>
                        <a:t>Người kiểm tra đề xuất</a:t>
                      </a:r>
                    </a:p>
                  </a:txBody>
                  <a:tcPr marL="114300" marR="114300" marT="95250" marB="95250">
                    <a:solidFill>
                      <a:srgbClr val="162B35"/>
                    </a:solidFill>
                  </a:tcPr>
                </a:tc>
              </a:tr>
              <a:tr h="490538">
                <a:tc>
                  <a:txBody>
                    <a:bodyPr/>
                    <a:lstStyle/>
                    <a:p>
                      <a:r>
                        <a:rPr sz="1875" b="0">
                          <a:solidFill>
                            <a:srgbClr val="162B35"/>
                          </a:solidFill>
                          <a:latin typeface="Arial"/>
                          <a:ea typeface="Arial"/>
                          <a:cs typeface="Arial"/>
                        </a:rPr>
                        <a:t>Trường đúng nhóm, tối đa 4, cam kết thời gian</a:t>
                      </a:r>
                    </a:p>
                  </a:txBody>
                  <a:tcPr marL="114300" marR="114300" marT="95250" marB="95250">
                    <a:solidFill>
                      <a:srgbClr val="FFFFFF"/>
                    </a:solidFill>
                  </a:tcPr>
                </a:tc>
                <a:tc>
                  <a:txBody>
                    <a:bodyPr/>
                    <a:lstStyle/>
                    <a:p>
                      <a:r>
                        <a:rPr sz="1875" b="0">
                          <a:solidFill>
                            <a:srgbClr val="162B35"/>
                          </a:solidFill>
                          <a:latin typeface="Arial"/>
                          <a:ea typeface="Arial"/>
                          <a:cs typeface="Arial"/>
                        </a:rPr>
                        <a:t>Trưởng nhóm hợp tác trường</a:t>
                      </a:r>
                    </a:p>
                  </a:txBody>
                  <a:tcPr marL="114300" marR="114300" marT="95250" marB="95250">
                    <a:solidFill>
                      <a:srgbClr val="FFFFFF"/>
                    </a:solidFill>
                  </a:tcPr>
                </a:tc>
              </a:tr>
              <a:tr h="490538">
                <a:tc>
                  <a:txBody>
                    <a:bodyPr/>
                    <a:lstStyle/>
                    <a:p>
                      <a:r>
                        <a:rPr sz="1875" b="0">
                          <a:solidFill>
                            <a:srgbClr val="162B35"/>
                          </a:solidFill>
                          <a:latin typeface="Arial"/>
                          <a:ea typeface="Arial"/>
                          <a:cs typeface="Arial"/>
                        </a:rPr>
                        <a:t>Đầu mối địa phương, tiếp nhận và bảo vệ trẻ em</a:t>
                      </a:r>
                    </a:p>
                  </a:txBody>
                  <a:tcPr marL="114300" marR="114300" marT="95250" marB="95250">
                    <a:solidFill>
                      <a:srgbClr val="FFFFFF"/>
                    </a:solidFill>
                  </a:tcPr>
                </a:tc>
                <a:tc>
                  <a:txBody>
                    <a:bodyPr/>
                    <a:lstStyle/>
                    <a:p>
                      <a:r>
                        <a:rPr sz="1875" b="0">
                          <a:solidFill>
                            <a:srgbClr val="162B35"/>
                          </a:solidFill>
                          <a:latin typeface="Arial"/>
                          <a:ea typeface="Arial"/>
                          <a:cs typeface="Arial"/>
                        </a:rPr>
                        <a:t>Giám đốc dịch vụ</a:t>
                      </a:r>
                    </a:p>
                  </a:txBody>
                  <a:tcPr marL="114300" marR="114300" marT="95250" marB="95250">
                    <a:solidFill>
                      <a:srgbClr val="FFFFFF"/>
                    </a:solidFill>
                  </a:tcPr>
                </a:tc>
              </a:tr>
              <a:tr h="490538">
                <a:tc>
                  <a:txBody>
                    <a:bodyPr/>
                    <a:lstStyle/>
                    <a:p>
                      <a:r>
                        <a:rPr sz="1875" b="0">
                          <a:solidFill>
                            <a:srgbClr val="162B35"/>
                          </a:solidFill>
                          <a:latin typeface="Arial"/>
                          <a:ea typeface="Arial"/>
                          <a:cs typeface="Arial"/>
                        </a:rPr>
                        <a:t>4 nhân sự sẵn sàng, đi lại, công cụ và ngân sách ≤70.000 GBP</a:t>
                      </a:r>
                    </a:p>
                  </a:txBody>
                  <a:tcPr marL="114300" marR="114300" marT="95250" marB="95250">
                    <a:solidFill>
                      <a:srgbClr val="FFFFFF"/>
                    </a:solidFill>
                  </a:tcPr>
                </a:tc>
                <a:tc>
                  <a:txBody>
                    <a:bodyPr/>
                    <a:lstStyle/>
                    <a:p>
                      <a:r>
                        <a:rPr sz="1875" b="0">
                          <a:solidFill>
                            <a:srgbClr val="162B35"/>
                          </a:solidFill>
                          <a:latin typeface="Arial"/>
                          <a:ea typeface="Arial"/>
                          <a:cs typeface="Arial"/>
                        </a:rPr>
                        <a:t>Quản lý ngân sách và giám đốc</a:t>
                      </a:r>
                    </a:p>
                  </a:txBody>
                  <a:tcPr marL="114300" marR="114300" marT="95250" marB="95250">
                    <a:solidFill>
                      <a:srgbClr val="FFFFFF"/>
                    </a:solidFill>
                  </a:tcPr>
                </a:tc>
              </a:tr>
              <a:tr h="490538">
                <a:tc>
                  <a:txBody>
                    <a:bodyPr/>
                    <a:lstStyle/>
                    <a:p>
                      <a:r>
                        <a:rPr sz="1875" b="0">
                          <a:solidFill>
                            <a:srgbClr val="162B35"/>
                          </a:solidFill>
                          <a:latin typeface="Arial"/>
                          <a:ea typeface="Arial"/>
                          <a:cs typeface="Arial"/>
                        </a:rPr>
                        <a:t>Gia đình đồng ý, danh sách đã khử trùng lặp, nhu cầu phù hợp</a:t>
                      </a:r>
                    </a:p>
                  </a:txBody>
                  <a:tcPr marL="114300" marR="114300" marT="95250" marB="95250">
                    <a:solidFill>
                      <a:srgbClr val="FFFFFF"/>
                    </a:solidFill>
                  </a:tcPr>
                </a:tc>
                <a:tc>
                  <a:txBody>
                    <a:bodyPr/>
                    <a:lstStyle/>
                    <a:p>
                      <a:r>
                        <a:rPr sz="1875" b="0">
                          <a:solidFill>
                            <a:srgbClr val="162B35"/>
                          </a:solidFill>
                          <a:latin typeface="Arial"/>
                          <a:ea typeface="Arial"/>
                          <a:cs typeface="Arial"/>
                        </a:rPr>
                        <a:t>Trưởng nhóm hỗ trợ</a:t>
                      </a:r>
                    </a:p>
                  </a:txBody>
                  <a:tcPr marL="114300" marR="114300" marT="95250" marB="95250">
                    <a:solidFill>
                      <a:srgbClr val="FFFFFF"/>
                    </a:solidFill>
                  </a:tcPr>
                </a:tc>
              </a:tr>
              <a:tr h="490538">
                <a:tc>
                  <a:txBody>
                    <a:bodyPr/>
                    <a:lstStyle/>
                    <a:p>
                      <a:r>
                        <a:rPr sz="1875" b="0">
                          <a:solidFill>
                            <a:srgbClr val="162B35"/>
                          </a:solidFill>
                          <a:latin typeface="Arial"/>
                          <a:ea typeface="Arial"/>
                          <a:cs typeface="Arial"/>
                        </a:rPr>
                        <a:t>Định nghĩa đo, dữ liệu trước/sau và nhóm so sánh phù hợp</a:t>
                      </a:r>
                    </a:p>
                  </a:txBody>
                  <a:tcPr marL="114300" marR="114300" marT="95250" marB="95250">
                    <a:solidFill>
                      <a:srgbClr val="FFFFFF"/>
                    </a:solidFill>
                  </a:tcPr>
                </a:tc>
                <a:tc>
                  <a:txBody>
                    <a:bodyPr/>
                    <a:lstStyle/>
                    <a:p>
                      <a:r>
                        <a:rPr sz="1875" b="0">
                          <a:solidFill>
                            <a:srgbClr val="162B35"/>
                          </a:solidFill>
                          <a:latin typeface="Arial"/>
                          <a:ea typeface="Arial"/>
                          <a:cs typeface="Arial"/>
                        </a:rPr>
                        <a:t>Người phụ trách đo lường</a:t>
                      </a:r>
                    </a:p>
                  </a:txBody>
                  <a:tcPr marL="114300" marR="114300" marT="95250" marB="95250">
                    <a:solidFill>
                      <a:srgbClr val="FFFFFF"/>
                    </a:solidFill>
                  </a:tcPr>
                </a:tc>
              </a:tr>
            </a:tbl>
          </a:graphicData>
        </a:graphic>
      </p:graphicFrame>
      <p:sp>
        <p:nvSpPr>
          <p:cNvPr id="5" name="Thiếu bằng chứng thì hoãn. Có thể chọn địa bàn khác tro">
            <a:extLst xmlns:a="http://schemas.openxmlformats.org/drawingml/2006/main">
              <a:ext uri="{FF2B5EF4-FFF2-40B4-BE49-F238E27FC236}">
                <a16:creationId xmlns:a16="http://schemas.microsoft.com/office/drawing/2014/main" id="{5CA73B4C-C0F8-4905-B3AE-951CE2F16F39}"/>
              </a:ext>
            </a:extLst>
          </p:cNvPr>
          <p:cNvSpPr>
            <a:spLocks xmlns:a="http://schemas.openxmlformats.org/drawingml/2006/main" noGrp="1"/>
          </p:cNvSpPr>
          <p:nvPr/>
        </p:nvSpPr>
        <p:spPr>
          <a:xfrm xmlns:a="http://schemas.openxmlformats.org/drawingml/2006/main">
            <a:off x="609600" y="58483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62B35"/>
                </a:solidFill>
                <a:latin typeface="Arial"/>
                <a:ea typeface="Arial"/>
                <a:cs typeface="Arial"/>
              </a:defRPr>
            </a:defPPr>
          </a:lstStyle>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Thiếu bằng chứng thì hoãn. Có thể chọn địa bàn khác trong ba địa bàn hoặc giảm phạm vi.</a:t>
            </a:r>
          </a:p>
        </p:txBody>
      </p:sp>
    </p:spTree>
    <p:extLst>
      <p:ext uri="{BB962C8B-B14F-4D97-AF65-F5344CB8AC3E}">
        <p14:creationId xmlns:p14="http://schemas.microsoft.com/office/powerpoint/2010/main" val="17453997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ết quả học kỳ quyết định việc mở rộng">
            <a:extLst xmlns:a="http://schemas.openxmlformats.org/drawingml/2006/main">
              <a:ext uri="{FF2B5EF4-FFF2-40B4-BE49-F238E27FC236}">
                <a16:creationId xmlns:a16="http://schemas.microsoft.com/office/drawing/2014/main" id="{B94CB0CA-60C7-485E-88DE-E26F5E1A7508}"/>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Kết quả học kỳ quyết định việc mở rộng</a:t>
            </a:r>
          </a:p>
        </p:txBody>
      </p:sp>
      <p:sp>
        <p:nvSpPr>
          <p:cNvPr id="2" name="08">
            <a:extLst xmlns:a="http://schemas.openxmlformats.org/drawingml/2006/main">
              <a:ext uri="{FF2B5EF4-FFF2-40B4-BE49-F238E27FC236}">
                <a16:creationId xmlns:a16="http://schemas.microsoft.com/office/drawing/2014/main" id="{E068F8B3-7B18-449A-8906-091CE758C864}"/>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08</a:t>
            </a:r>
          </a:p>
        </p:txBody>
      </p:sp>
      <p:sp>
        <p:nvSpPr>
          <p:cNvPr id="3" name="Cách đo đề xuất">
            <a:extLst xmlns:a="http://schemas.openxmlformats.org/drawingml/2006/main">
              <a:ext uri="{FF2B5EF4-FFF2-40B4-BE49-F238E27FC236}">
                <a16:creationId xmlns:a16="http://schemas.microsoft.com/office/drawing/2014/main" id="{1913E4FD-5234-40C3-822B-617BBF99968C}"/>
              </a:ext>
            </a:extLst>
          </p:cNvPr>
          <p:cNvSpPr>
            <a:spLocks xmlns:a="http://schemas.openxmlformats.org/drawingml/2006/main" noGrp="1"/>
          </p:cNvSpPr>
          <p:nvPr/>
        </p:nvSpPr>
        <p:spPr>
          <a:xfrm xmlns:a="http://schemas.openxmlformats.org/drawingml/2006/main">
            <a:off x="609600" y="1533525"/>
            <a:ext cx="3952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B6273"/>
                </a:solidFill>
                <a:latin typeface="Arial"/>
                <a:ea typeface="Arial"/>
                <a:cs typeface="Arial"/>
              </a:defRPr>
            </a:defPPr>
          </a:lstStyle>
          <a:p xmlns:a="http://schemas.openxmlformats.org/drawingml/2006/main">
            <a:pPr>
              <a:defRPr sz="2250" b="1">
                <a:solidFill>
                  <a:srgbClr val="1B6273"/>
                </a:solidFill>
                <a:latin typeface="Arial"/>
                <a:ea typeface="Arial"/>
                <a:cs typeface="Arial"/>
              </a:defRPr>
            </a:pPr>
            <a:r>
              <a:rPr sz="2250" b="1">
                <a:solidFill>
                  <a:srgbClr val="1B6273"/>
                </a:solidFill>
                <a:latin typeface="Arial"/>
                <a:ea typeface="Arial"/>
                <a:cs typeface="Arial"/>
              </a:rPr>
              <a:t>Cách đo đề xuất</a:t>
            </a:r>
          </a:p>
        </p:txBody>
      </p:sp>
      <p:sp>
        <p:nvSpPr>
          <p:cNvPr id="4" name="4 tuần học trước hỗ trợ và 6 tuần theo dõi. Đóng tiếp n">
            <a:extLst xmlns:a="http://schemas.openxmlformats.org/drawingml/2006/main">
              <a:ext uri="{FF2B5EF4-FFF2-40B4-BE49-F238E27FC236}">
                <a16:creationId xmlns:a16="http://schemas.microsoft.com/office/drawing/2014/main" id="{C9257737-53A6-41FB-986E-13254D3D54B4}"/>
              </a:ext>
            </a:extLst>
          </p:cNvPr>
          <p:cNvSpPr>
            <a:spLocks xmlns:a="http://schemas.openxmlformats.org/drawingml/2006/main" noGrp="1"/>
          </p:cNvSpPr>
          <p:nvPr/>
        </p:nvSpPr>
        <p:spPr>
          <a:xfrm xmlns:a="http://schemas.openxmlformats.org/drawingml/2006/main">
            <a:off x="609600" y="2076450"/>
            <a:ext cx="48863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4 tuần học trước hỗ trợ và 6 tuần theo dõi. Đóng tiếp nhận cuối tuần 2 để mọi trẻ có đủ thời gian trong học kỳ.</a:t>
            </a:r>
          </a:p>
        </p:txBody>
      </p:sp>
      <p:sp>
        <p:nvSpPr>
          <p:cNvPr id="5" name="Tỷ lệ buổi vắng = tổng buổi vắng / tổng buổi có thể tha">
            <a:extLst xmlns:a="http://schemas.openxmlformats.org/drawingml/2006/main">
              <a:ext uri="{FF2B5EF4-FFF2-40B4-BE49-F238E27FC236}">
                <a16:creationId xmlns:a16="http://schemas.microsoft.com/office/drawing/2014/main" id="{4EB654AE-D5AF-47B7-BC42-70C0169A324C}"/>
              </a:ext>
            </a:extLst>
          </p:cNvPr>
          <p:cNvSpPr>
            <a:spLocks xmlns:a="http://schemas.openxmlformats.org/drawingml/2006/main" noGrp="1"/>
          </p:cNvSpPr>
          <p:nvPr/>
        </p:nvSpPr>
        <p:spPr>
          <a:xfrm xmlns:a="http://schemas.openxmlformats.org/drawingml/2006/main">
            <a:off x="609600" y="3638550"/>
            <a:ext cx="488632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Tỷ lệ buổi vắng = tổng buổi vắng / tổng buổi có thể tham dự của toàn bộ trẻ nhận hỗ trợ. Giữ rõ dữ liệu thiếu và đối chiếu nhóm tương tự nếu khả thi.</a:t>
            </a:r>
          </a:p>
        </p:txBody>
      </p:sp>
      <p:sp>
        <p:nvSpPr>
          <p:cNvPr id="6" name="Quy tắc quyết định đề xuất">
            <a:extLst xmlns:a="http://schemas.openxmlformats.org/drawingml/2006/main">
              <a:ext uri="{FF2B5EF4-FFF2-40B4-BE49-F238E27FC236}">
                <a16:creationId xmlns:a16="http://schemas.microsoft.com/office/drawing/2014/main" id="{3A383609-A431-4BAC-A498-6447A0A31EE2}"/>
              </a:ext>
            </a:extLst>
          </p:cNvPr>
          <p:cNvSpPr>
            <a:spLocks xmlns:a="http://schemas.openxmlformats.org/drawingml/2006/main" noGrp="1"/>
          </p:cNvSpPr>
          <p:nvPr/>
        </p:nvSpPr>
        <p:spPr>
          <a:xfrm xmlns:a="http://schemas.openxmlformats.org/drawingml/2006/main">
            <a:off x="6296025" y="1533525"/>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B6273"/>
                </a:solidFill>
                <a:latin typeface="Arial"/>
                <a:ea typeface="Arial"/>
                <a:cs typeface="Arial"/>
              </a:defRPr>
            </a:defPPr>
          </a:lstStyle>
          <a:p xmlns:a="http://schemas.openxmlformats.org/drawingml/2006/main">
            <a:pPr>
              <a:defRPr sz="2250" b="1">
                <a:solidFill>
                  <a:srgbClr val="1B6273"/>
                </a:solidFill>
                <a:latin typeface="Arial"/>
                <a:ea typeface="Arial"/>
                <a:cs typeface="Arial"/>
              </a:defRPr>
            </a:pPr>
            <a:r>
              <a:rPr sz="2250" b="1">
                <a:solidFill>
                  <a:srgbClr val="1B6273"/>
                </a:solidFill>
                <a:latin typeface="Arial"/>
                <a:ea typeface="Arial"/>
                <a:cs typeface="Arial"/>
              </a:rPr>
              <a:t>Quy tắc quyết định đề xuất</a:t>
            </a:r>
          </a:p>
        </p:txBody>
      </p:sp>
      <p:sp>
        <p:nvSpPr>
          <p:cNvPr id="7" name="Hằng tuần: dừng tiếp nhận ở trần 60 gia đình hoặc 15/ng">
            <a:extLst xmlns:a="http://schemas.openxmlformats.org/drawingml/2006/main">
              <a:ext uri="{FF2B5EF4-FFF2-40B4-BE49-F238E27FC236}">
                <a16:creationId xmlns:a16="http://schemas.microsoft.com/office/drawing/2014/main" id="{07990B26-0416-4EDE-B9FA-F07652FA2C0D}"/>
              </a:ext>
            </a:extLst>
          </p:cNvPr>
          <p:cNvSpPr>
            <a:spLocks xmlns:a="http://schemas.openxmlformats.org/drawingml/2006/main" noGrp="1"/>
          </p:cNvSpPr>
          <p:nvPr/>
        </p:nvSpPr>
        <p:spPr>
          <a:xfrm xmlns:a="http://schemas.openxmlformats.org/drawingml/2006/main">
            <a:off x="6296025" y="2076450"/>
            <a:ext cx="5219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Hằng tuần: dừng tiếp nhận ở trần 60 gia đình hoặc 15/người. Dừng khi chạm trần chi hoặc có rủi ro bảo vệ trẻ em chưa xử lý.</a:t>
            </a:r>
          </a:p>
        </p:txBody>
      </p:sp>
      <p:sp>
        <p:nvSpPr>
          <p:cNvPr id="8" name="Cuối kỳ, sau khi trường xác nhận dữ liệu: chỉ đề xuất m">
            <a:extLst xmlns:a="http://schemas.openxmlformats.org/drawingml/2006/main">
              <a:ext uri="{FF2B5EF4-FFF2-40B4-BE49-F238E27FC236}">
                <a16:creationId xmlns:a16="http://schemas.microsoft.com/office/drawing/2014/main" id="{98ED82B7-5D3B-439A-9992-20B15E1EDAFC}"/>
              </a:ext>
            </a:extLst>
          </p:cNvPr>
          <p:cNvSpPr>
            <a:spLocks xmlns:a="http://schemas.openxmlformats.org/drawingml/2006/main" noGrp="1"/>
          </p:cNvSpPr>
          <p:nvPr/>
        </p:nvSpPr>
        <p:spPr>
          <a:xfrm xmlns:a="http://schemas.openxmlformats.org/drawingml/2006/main">
            <a:off x="6296025" y="3638550"/>
            <a:ext cx="52197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Cuối kỳ, sau khi trường xác nhận dữ liệu: chỉ đề xuất mở rộng khi đạt mức giảm tối thiểu đã chốt trước, nguồn lực phù hợp và không có vấn đề an toàn tồn đọng.</a:t>
            </a:r>
          </a:p>
        </p:txBody>
      </p:sp>
      <p:sp>
        <p:nvSpPr>
          <p:cNvPr id="9" name="Giám đốc duyệt tiêu chí trước khi mở. Thiếu dữ liệu trư">
            <a:extLst xmlns:a="http://schemas.openxmlformats.org/drawingml/2006/main">
              <a:ext uri="{FF2B5EF4-FFF2-40B4-BE49-F238E27FC236}">
                <a16:creationId xmlns:a16="http://schemas.microsoft.com/office/drawing/2014/main" id="{3BDEC3E1-3993-47DF-8175-785BEAE6A6F6}"/>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Giám đốc duyệt tiêu chí trước khi mở. Thiếu dữ liệu trưởng thành thì chưa kết luận. So sánh trước/sau chưa chứng minh tác động nhân quả.</a:t>
            </a:r>
          </a:p>
        </p:txBody>
      </p:sp>
    </p:spTree>
    <p:extLst>
      <p:ext uri="{BB962C8B-B14F-4D97-AF65-F5344CB8AC3E}">
        <p14:creationId xmlns:p14="http://schemas.microsoft.com/office/powerpoint/2010/main" val="17924442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hạm vi nguồn và cách cập nhật">
            <a:extLst xmlns:a="http://schemas.openxmlformats.org/drawingml/2006/main">
              <a:ext uri="{FF2B5EF4-FFF2-40B4-BE49-F238E27FC236}">
                <a16:creationId xmlns:a16="http://schemas.microsoft.com/office/drawing/2014/main" id="{0C9A842C-B9B5-48B7-823E-7CAEBEADD3E4}"/>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62B35"/>
                </a:solidFill>
                <a:latin typeface="Arial"/>
                <a:ea typeface="Arial"/>
                <a:cs typeface="Arial"/>
              </a:defRPr>
            </a:defPPr>
          </a:lstStyle>
          <a:p xmlns:a="http://schemas.openxmlformats.org/drawingml/2006/main">
            <a:pPr>
              <a:defRPr sz="3300" b="1">
                <a:solidFill>
                  <a:srgbClr val="162B35"/>
                </a:solidFill>
                <a:latin typeface="Arial"/>
                <a:ea typeface="Arial"/>
                <a:cs typeface="Arial"/>
              </a:defRPr>
            </a:pPr>
            <a:r>
              <a:rPr sz="3300" b="1">
                <a:solidFill>
                  <a:srgbClr val="162B35"/>
                </a:solidFill>
                <a:latin typeface="Arial"/>
                <a:ea typeface="Arial"/>
                <a:cs typeface="Arial"/>
              </a:rPr>
              <a:t>Phạm vi nguồn và cách cập nhật</a:t>
            </a:r>
          </a:p>
        </p:txBody>
      </p:sp>
      <p:sp>
        <p:nvSpPr>
          <p:cNvPr id="2" name="09">
            <a:extLst xmlns:a="http://schemas.openxmlformats.org/drawingml/2006/main">
              <a:ext uri="{FF2B5EF4-FFF2-40B4-BE49-F238E27FC236}">
                <a16:creationId xmlns:a16="http://schemas.microsoft.com/office/drawing/2014/main" id="{E68105AB-1A46-4EF1-846D-A876D8196DF0}"/>
              </a:ext>
            </a:extLst>
          </p:cNvPr>
          <p:cNvSpPr>
            <a:spLocks xmlns:a="http://schemas.openxmlformats.org/drawingml/2006/main" noGrp="1"/>
          </p:cNvSpPr>
          <p:nvPr/>
        </p:nvSpPr>
        <p:spPr>
          <a:xfrm xmlns:a="http://schemas.openxmlformats.org/drawingml/2006/main">
            <a:off x="11239500" y="6438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85F68"/>
                </a:solidFill>
                <a:latin typeface="Arial"/>
                <a:ea typeface="Arial"/>
                <a:cs typeface="Arial"/>
              </a:defRPr>
            </a:defPPr>
          </a:lstStyle>
          <a:p xmlns:a="http://schemas.openxmlformats.org/drawingml/2006/main">
            <a:pPr>
              <a:defRPr sz="1350" b="0">
                <a:solidFill>
                  <a:srgbClr val="485F68"/>
                </a:solidFill>
                <a:latin typeface="Arial"/>
                <a:ea typeface="Arial"/>
                <a:cs typeface="Arial"/>
              </a:defRPr>
            </a:pPr>
            <a:r>
              <a:rPr sz="1350" b="0">
                <a:solidFill>
                  <a:srgbClr val="485F68"/>
                </a:solidFill>
                <a:latin typeface="Arial"/>
                <a:ea typeface="Arial"/>
                <a:cs typeface="Arial"/>
              </a:rPr>
              <a:t>09</a:t>
            </a:r>
          </a:p>
        </p:txBody>
      </p:sp>
      <p:sp>
        <p:nvSpPr>
          <p:cNvPr id="3" name="Toàn bộ 153 địa bàn, 304 cặp địa bàn và nhóm trường, 60">
            <a:extLst xmlns:a="http://schemas.openxmlformats.org/drawingml/2006/main">
              <a:ext uri="{FF2B5EF4-FFF2-40B4-BE49-F238E27FC236}">
                <a16:creationId xmlns:a16="http://schemas.microsoft.com/office/drawing/2014/main" id="{5B24BBCB-C174-4EBF-B72C-AE5291BC256C}"/>
              </a:ext>
            </a:extLst>
          </p:cNvPr>
          <p:cNvSpPr>
            <a:spLocks xmlns:a="http://schemas.openxmlformats.org/drawingml/2006/main" noGrp="1"/>
          </p:cNvSpPr>
          <p:nvPr/>
        </p:nvSpPr>
        <p:spPr>
          <a:xfrm xmlns:a="http://schemas.openxmlformats.org/drawingml/2006/main">
            <a:off x="609600" y="15144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Toàn bộ 153 địa bàn, 304 cặp địa bàn và nhóm trường, 608 dòng cho hai học kỳ thu. Chỉ primary và secondary được nhà nước tài trợ. Chỉ tiêu áp dụng tuổi 5 đến 15 theo nguồn.</a:t>
            </a:r>
          </a:p>
        </p:txBody>
      </p:sp>
      <p:sp>
        <p:nvSpPr>
          <p:cNvPr id="4" name="Vắng thường xuyên ≥10% và vắng nặng ≥50% dùng lượt ghi ">
            <a:extLst xmlns:a="http://schemas.openxmlformats.org/drawingml/2006/main">
              <a:ext uri="{FF2B5EF4-FFF2-40B4-BE49-F238E27FC236}">
                <a16:creationId xmlns:a16="http://schemas.microsoft.com/office/drawing/2014/main" id="{E9C2A7C7-E114-4247-A55C-5004E584CD29}"/>
              </a:ext>
            </a:extLst>
          </p:cNvPr>
          <p:cNvSpPr>
            <a:spLocks xmlns:a="http://schemas.openxmlformats.org/drawingml/2006/main" noGrp="1"/>
          </p:cNvSpPr>
          <p:nvPr/>
        </p:nvSpPr>
        <p:spPr>
          <a:xfrm xmlns:a="http://schemas.openxmlformats.org/drawingml/2006/main">
            <a:off x="609600" y="2638425"/>
            <a:ext cx="1085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62B35"/>
                </a:solidFill>
                <a:latin typeface="Arial"/>
                <a:ea typeface="Arial"/>
                <a:cs typeface="Arial"/>
              </a:defRPr>
            </a:defPPr>
          </a:lstStyle>
          <a:p xmlns:a="http://schemas.openxmlformats.org/drawingml/2006/main">
            <a:pPr>
              <a:defRPr sz="2100" b="0">
                <a:solidFill>
                  <a:srgbClr val="162B35"/>
                </a:solidFill>
                <a:latin typeface="Arial"/>
                <a:ea typeface="Arial"/>
                <a:cs typeface="Arial"/>
              </a:defRPr>
            </a:pPr>
            <a:r>
              <a:rPr sz="2100" b="0">
                <a:solidFill>
                  <a:srgbClr val="162B35"/>
                </a:solidFill>
                <a:latin typeface="Arial"/>
                <a:ea typeface="Arial"/>
                <a:cs typeface="Arial"/>
              </a:rPr>
              <a:t>Vắng thường xuyên ≥10% và vắng nặng ≥50% dùng lượt ghi danh. Tỷ lệ buổi vắng và lý do dùng số buổi có thể tham dự. Tỷ lệ tổng hợp = tổng tử số / tổng mẫu số.</a:t>
            </a:r>
          </a:p>
        </p:txBody>
      </p:sp>
      <p:sp>
        <p:nvSpPr>
          <p:cNvPr id="5" name="Isles of Scilly thiếu dòng primary. City of London thiế">
            <a:extLst xmlns:a="http://schemas.openxmlformats.org/drawingml/2006/main">
              <a:ext uri="{FF2B5EF4-FFF2-40B4-BE49-F238E27FC236}">
                <a16:creationId xmlns:a16="http://schemas.microsoft.com/office/drawing/2014/main" id="{A71A26AE-1D95-49A4-9869-36F53231CCE2}"/>
              </a:ext>
            </a:extLst>
          </p:cNvPr>
          <p:cNvSpPr>
            <a:spLocks xmlns:a="http://schemas.openxmlformats.org/drawingml/2006/main" noGrp="1"/>
          </p:cNvSpPr>
          <p:nvPr/>
        </p:nvSpPr>
        <p:spPr>
          <a:xfrm xmlns:a="http://schemas.openxmlformats.org/drawingml/2006/main">
            <a:off x="609600" y="398145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62B35"/>
                </a:solidFill>
                <a:latin typeface="Arial"/>
                <a:ea typeface="Arial"/>
                <a:cs typeface="Arial"/>
              </a:defRPr>
            </a:defPPr>
          </a:lstStyle>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Isles of Scilly thiếu dòng primary. City of London thiếu dòng secondary. Giữ trạng thái không có dòng, không thêm số 0. Không dùng dòng Total có special.</a:t>
            </a:r>
          </a:p>
        </p:txBody>
      </p:sp>
      <p:sp>
        <p:nvSpPr>
          <p:cNvPr id="6" name="Khi DfE sửa dữ liệu hoặc đổi kỳ: kiểm tra snapshot, mã ">
            <a:extLst xmlns:a="http://schemas.openxmlformats.org/drawingml/2006/main">
              <a:ext uri="{FF2B5EF4-FFF2-40B4-BE49-F238E27FC236}">
                <a16:creationId xmlns:a16="http://schemas.microsoft.com/office/drawing/2014/main" id="{3B1245B0-197C-47F7-BFA5-06C5C15A4EEC}"/>
              </a:ext>
            </a:extLst>
          </p:cNvPr>
          <p:cNvSpPr>
            <a:spLocks xmlns:a="http://schemas.openxmlformats.org/drawingml/2006/main" noGrp="1"/>
          </p:cNvSpPr>
          <p:nvPr/>
        </p:nvSpPr>
        <p:spPr>
          <a:xfrm xmlns:a="http://schemas.openxmlformats.org/drawingml/2006/main">
            <a:off x="609600" y="50577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62B35"/>
                </a:solidFill>
                <a:latin typeface="Arial"/>
                <a:ea typeface="Arial"/>
                <a:cs typeface="Arial"/>
              </a:defRPr>
            </a:defPPr>
          </a:lstStyle>
          <a:p xmlns:a="http://schemas.openxmlformats.org/drawingml/2006/main">
            <a:pPr>
              <a:defRPr sz="2025" b="0">
                <a:solidFill>
                  <a:srgbClr val="162B35"/>
                </a:solidFill>
                <a:latin typeface="Arial"/>
                <a:ea typeface="Arial"/>
                <a:cs typeface="Arial"/>
              </a:defRPr>
            </a:pPr>
            <a:r>
              <a:rPr sz="2025" b="0">
                <a:solidFill>
                  <a:srgbClr val="162B35"/>
                </a:solidFill>
                <a:latin typeface="Arial"/>
                <a:ea typeface="Arial"/>
                <a:cs typeface="Arial"/>
              </a:rPr>
              <a:t>Khi DfE sửa dữ liệu hoặc đổi kỳ: kiểm tra snapshot, mã địa bàn, nhóm trường, mẫu số, định nghĩa và mã lý do. Chạy lại tổng hợp, xem lại đề xuất và xuất lại cả ba tệp.</a:t>
            </a:r>
          </a:p>
        </p:txBody>
      </p:sp>
      <p:sp>
        <p:nvSpPr>
          <p:cNvPr id="7" name="DfE, công bố 6/8/2026, bản tải 13/10/2026. Dữ liệu học ">
            <a:extLst xmlns:a="http://schemas.openxmlformats.org/drawingml/2006/main">
              <a:ext uri="{FF2B5EF4-FFF2-40B4-BE49-F238E27FC236}">
                <a16:creationId xmlns:a16="http://schemas.microsoft.com/office/drawing/2014/main" id="{15BAF911-222A-4EC7-B401-62999BC6FC7B}"/>
              </a:ext>
            </a:extLst>
          </p:cNvPr>
          <p:cNvSpPr>
            <a:spLocks xmlns:a="http://schemas.openxmlformats.org/drawingml/2006/main" noGrp="1"/>
          </p:cNvSpPr>
          <p:nvPr/>
        </p:nvSpPr>
        <p:spPr>
          <a:xfrm xmlns:a="http://schemas.openxmlformats.org/drawingml/2006/main">
            <a:off x="609600" y="60007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85F68"/>
                </a:solidFill>
                <a:latin typeface="Arial"/>
                <a:ea typeface="Arial"/>
                <a:cs typeface="Arial"/>
              </a:defRPr>
            </a:defPPr>
          </a:lstStyle>
          <a:p xmlns:a="http://schemas.openxmlformats.org/drawingml/2006/main">
            <a:pPr>
              <a:defRPr sz="1575" b="0">
                <a:solidFill>
                  <a:srgbClr val="485F68"/>
                </a:solidFill>
                <a:latin typeface="Arial"/>
                <a:ea typeface="Arial"/>
                <a:cs typeface="Arial"/>
              </a:defRPr>
            </a:pPr>
            <a:r>
              <a:rPr sz="1575" b="0">
                <a:solidFill>
                  <a:srgbClr val="485F68"/>
                </a:solidFill>
                <a:latin typeface="Arial"/>
                <a:ea typeface="Arial"/>
                <a:cs typeface="Arial"/>
              </a:rPr>
              <a:t>DfE, công bố 6/8/2026, bản tải 13/10/2026. Dữ liệu học kỳ là chỉ báo. Contains public sector information licensed under OGL v3.0.</a:t>
            </a:r>
          </a:p>
        </p:txBody>
      </p:sp>
    </p:spTree>
    <p:extLst>
      <p:ext uri="{BB962C8B-B14F-4D97-AF65-F5344CB8AC3E}">
        <p14:creationId xmlns:p14="http://schemas.microsoft.com/office/powerpoint/2010/main" val="1691724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2026-10-13T11:35:54.6710000Z</dcterms:created>
  <dcterms:modified xsi:type="dcterms:W3CDTF">2026-10-13T11:35:54.6710000Z</dcterms:modified>
</coreProperties>
</file>